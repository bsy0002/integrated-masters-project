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6" autoAdjust="0"/>
    <p:restoredTop sz="94660"/>
  </p:normalViewPr>
  <p:slideViewPr>
    <p:cSldViewPr snapToGrid="0">
      <p:cViewPr>
        <p:scale>
          <a:sx n="95" d="100"/>
          <a:sy n="95" d="100"/>
        </p:scale>
        <p:origin x="288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AAB19-AC25-F91D-F3D3-42B279A5C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9836E0-35CF-4186-7C89-76F981A5E1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3285B-A209-FC9B-7993-46A26C9B7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63753-78A2-F69D-D6E9-A339107C5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7344D-CA37-FF84-885A-21FBB23EC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356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F3C88-2EF3-8F93-3EAD-EBA26C16B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E1BACE-EB39-9EDA-283A-FE166A3EE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126A7A-7A41-045B-3CDD-1C2485C20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2D5F6-6050-2BA6-4FF3-A4DA8B427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F81165-CC01-2F77-F95F-D03BC5BE1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8886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F17A8-8492-1393-D811-78AEB5CF3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CEF323-2CB0-B330-1EC0-EEBF96E985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BA5F9E-7295-95F8-8BAA-2BE64A762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B5BB49-673F-E1A4-B930-F8584DD13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DCE1E3-0F03-AFA6-ADA7-33410EFC0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652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A8E0D-E98C-A25A-9220-922758F16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1C0D8-A798-C239-DE54-E39522AB48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DEB6F9-416A-0279-81E7-80C1998B4B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AEAA21-3F35-F2A1-1732-4528066D7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34FD86-3247-C888-09D0-AA7A0B7B2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DE1FBA-3BB7-007F-1F2E-E31E695F9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223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DA497-ADEE-83C0-368B-6CCEBEDF7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3BA077-863D-02AF-D87E-4EF12B1AAB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E110D9-71B7-73FF-4E0F-11EF5177D9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7939D2-808A-0606-0840-06136A8B2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0BB433-E7BD-22A6-3FFE-2504C9D38E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65F565-F6AD-3194-30D7-5A8CC09E2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90043A-394D-8F62-8A51-46D8E26B9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D0AB99-EA3D-3637-DE7F-B478DE454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330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11ABD-41B2-8E64-AFAD-7E3311729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DD53C6-8846-4E5C-6356-83050ACA8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E94E42-A579-3D03-4B0C-B6AEF8D7B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F4F696-C6BD-182B-1D6F-CA9B6135B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74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EFD125-EBFE-5F45-CC2E-A67646572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8F9499-CB90-0263-5C0D-69F3BCA52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C13048-F3B3-CE02-6A35-F0F7E592B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085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73B30-FF8B-DC11-4847-FDA4DF891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CAB4F0-F860-0EB7-B308-CB611BD6A9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5361AE-354F-0A13-1005-BE197868F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EB3B76-B9B4-3E62-8B60-92482594F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53FF2C-45B7-26FB-B9F8-86C369F7E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A8FECF-1A45-FFCA-1B48-2F915AA16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245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731E3-5DC0-7DB9-B48A-CC99ED0B2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745068-29FF-CFB5-A109-20A135C235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2F14EA-898D-7322-B849-D1F53D51F5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9CEF1B-9313-ADAB-8DE9-31E47514A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A789B-DB2F-E724-3DD6-DE6366F6A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3A2A23-D99C-A717-7A0D-0C153B72E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972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E6590-AD52-8D7D-88A8-8708B42F5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FF387B-116F-DAE5-CA87-2A69FD582A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B8F72C-A6D7-7805-57E9-EF92959EF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6C44B5-C1A8-E220-9E13-EFF867984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A8939A-563B-9727-7CBF-15538B381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902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E1F932-67E5-F81A-4538-7FD8FADD52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FE7D94-D017-BAA2-8A42-9AE22A0E7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4B5990-34E6-31B3-70F9-8805FA0D7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0CD16-1CBB-EE8C-BB68-ED995285A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A9C7A8-3689-D296-75B3-6336A310D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206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5586C7-6EB0-01D9-20EC-160F73793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9AC106-63E6-43F3-F163-2F21CDCE2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BD8CE6-631F-BBDA-8470-0552DB8DB7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415712-9535-4045-B0C7-D22E271B7415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74DDD-372E-A9B7-F81B-20A77116B5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9BB62A-C76A-3B7D-3F86-89FB521BB1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708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B0AB7B8-267C-2EA9-D64D-34990CA7CC99}"/>
              </a:ext>
            </a:extLst>
          </p:cNvPr>
          <p:cNvSpPr/>
          <p:nvPr/>
        </p:nvSpPr>
        <p:spPr>
          <a:xfrm>
            <a:off x="488784" y="90806"/>
            <a:ext cx="3966667" cy="27177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(Implementation)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627C39-CB20-FD04-6C21-BE890C91A948}"/>
              </a:ext>
            </a:extLst>
          </p:cNvPr>
          <p:cNvSpPr/>
          <p:nvPr/>
        </p:nvSpPr>
        <p:spPr>
          <a:xfrm>
            <a:off x="9919800" y="4801786"/>
            <a:ext cx="1188720" cy="17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 State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8C5C24C-217B-6EA0-0C09-5CDE5BC56B1C}"/>
              </a:ext>
            </a:extLst>
          </p:cNvPr>
          <p:cNvSpPr/>
          <p:nvPr/>
        </p:nvSpPr>
        <p:spPr>
          <a:xfrm>
            <a:off x="9205913" y="4249603"/>
            <a:ext cx="1188720" cy="17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 Properties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FEA430-8758-7E2F-3865-AFBA8D0B334F}"/>
              </a:ext>
            </a:extLst>
          </p:cNvPr>
          <p:cNvSpPr/>
          <p:nvPr/>
        </p:nvSpPr>
        <p:spPr>
          <a:xfrm>
            <a:off x="9205913" y="4499848"/>
            <a:ext cx="1188720" cy="17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BE307A-928C-C26E-D8E3-F16BB44F3117}"/>
              </a:ext>
            </a:extLst>
          </p:cNvPr>
          <p:cNvSpPr/>
          <p:nvPr/>
        </p:nvSpPr>
        <p:spPr>
          <a:xfrm>
            <a:off x="9116496" y="3913972"/>
            <a:ext cx="2834640" cy="16838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D479C98-6C8F-53F6-CC27-A8A05E995A8F}"/>
              </a:ext>
            </a:extLst>
          </p:cNvPr>
          <p:cNvSpPr/>
          <p:nvPr/>
        </p:nvSpPr>
        <p:spPr>
          <a:xfrm>
            <a:off x="10705196" y="5104056"/>
            <a:ext cx="1188720" cy="17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Keplerian State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DC6F869-382F-C3CD-8B35-8E7425528C17}"/>
              </a:ext>
            </a:extLst>
          </p:cNvPr>
          <p:cNvSpPr/>
          <p:nvPr/>
        </p:nvSpPr>
        <p:spPr>
          <a:xfrm>
            <a:off x="10705196" y="5328906"/>
            <a:ext cx="1188720" cy="17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Osculating State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5EDC362-9400-E972-9DCD-327D058D5683}"/>
              </a:ext>
            </a:extLst>
          </p:cNvPr>
          <p:cNvCxnSpPr>
            <a:cxnSpLocks/>
            <a:stCxn id="21" idx="2"/>
            <a:endCxn id="29" idx="1"/>
          </p:cNvCxnSpPr>
          <p:nvPr/>
        </p:nvCxnSpPr>
        <p:spPr>
          <a:xfrm>
            <a:off x="10514160" y="4974519"/>
            <a:ext cx="191036" cy="21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13B138A-6336-A0A4-DF39-EFA2D1BCE044}"/>
              </a:ext>
            </a:extLst>
          </p:cNvPr>
          <p:cNvCxnSpPr>
            <a:cxnSpLocks/>
            <a:stCxn id="21" idx="2"/>
            <a:endCxn id="30" idx="1"/>
          </p:cNvCxnSpPr>
          <p:nvPr/>
        </p:nvCxnSpPr>
        <p:spPr>
          <a:xfrm>
            <a:off x="10514160" y="4974519"/>
            <a:ext cx="191036" cy="4407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28750FE-4D09-3E44-5B6C-254D9F1D6418}"/>
              </a:ext>
            </a:extLst>
          </p:cNvPr>
          <p:cNvCxnSpPr>
            <a:stCxn id="25" idx="2"/>
            <a:endCxn id="21" idx="1"/>
          </p:cNvCxnSpPr>
          <p:nvPr/>
        </p:nvCxnSpPr>
        <p:spPr>
          <a:xfrm>
            <a:off x="9800273" y="4672581"/>
            <a:ext cx="119527" cy="2155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F9CF41E4-8168-F856-53DD-F73ABF8EF43C}"/>
              </a:ext>
            </a:extLst>
          </p:cNvPr>
          <p:cNvSpPr/>
          <p:nvPr/>
        </p:nvSpPr>
        <p:spPr>
          <a:xfrm>
            <a:off x="9116496" y="420231"/>
            <a:ext cx="2834640" cy="15128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 Model List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Point-mass (central body) gravity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Non-spherical gravity (J2 and higher harmonics)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Third-body gravity (Sun, Moon, planets)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Atmospheric drag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Solar radiation pressure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Eclipse / shadowing (for SRP)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Impulsive thrust (ΔV maneuvers)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Finite / continuous thrust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Relativistic correction (first-order)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C0CDA18-E999-4CF8-D3D4-AE8B187CF578}"/>
              </a:ext>
            </a:extLst>
          </p:cNvPr>
          <p:cNvSpPr/>
          <p:nvPr/>
        </p:nvSpPr>
        <p:spPr>
          <a:xfrm>
            <a:off x="9116496" y="2167102"/>
            <a:ext cx="2834640" cy="15128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 List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Euler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Modified Euler (Heun)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Midpoint</a:t>
            </a: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Verlet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Velocity 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Verlet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Leapfrog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Runge–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Kutta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 (RK2)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Runge–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Kutta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4 (RK4)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Runge–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Kutta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–Fehlberg (RKF45)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Dormand–Prince (DOPRI5)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1C89EE1-0FBD-6813-2095-3EAAA3D60EB2}"/>
              </a:ext>
            </a:extLst>
          </p:cNvPr>
          <p:cNvSpPr/>
          <p:nvPr/>
        </p:nvSpPr>
        <p:spPr>
          <a:xfrm>
            <a:off x="5324406" y="918873"/>
            <a:ext cx="2899155" cy="30538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Propagator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390A255-F986-E754-140C-5A8C21EDF38E}"/>
              </a:ext>
            </a:extLst>
          </p:cNvPr>
          <p:cNvSpPr/>
          <p:nvPr/>
        </p:nvSpPr>
        <p:spPr>
          <a:xfrm>
            <a:off x="5461291" y="1222192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Applied Force Models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Computes all the applied forces at a specific time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098C96F6-FB5D-A050-71E7-C96DFA847347}"/>
              </a:ext>
            </a:extLst>
          </p:cNvPr>
          <p:cNvSpPr/>
          <p:nvPr/>
        </p:nvSpPr>
        <p:spPr>
          <a:xfrm>
            <a:off x="5461291" y="1722485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Applied Integrator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Advances the state in time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A4961F4-9BE1-CEA7-220C-C4375AB8E2FC}"/>
              </a:ext>
            </a:extLst>
          </p:cNvPr>
          <p:cNvCxnSpPr>
            <a:cxnSpLocks/>
            <a:stCxn id="52" idx="1"/>
            <a:endCxn id="56" idx="3"/>
          </p:cNvCxnSpPr>
          <p:nvPr/>
        </p:nvCxnSpPr>
        <p:spPr>
          <a:xfrm flipH="1">
            <a:off x="7290091" y="1176681"/>
            <a:ext cx="1826405" cy="2741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C214C19-6F60-AF46-B029-C9FB44FF0FC4}"/>
              </a:ext>
            </a:extLst>
          </p:cNvPr>
          <p:cNvCxnSpPr>
            <a:cxnSpLocks/>
            <a:stCxn id="54" idx="1"/>
            <a:endCxn id="57" idx="3"/>
          </p:cNvCxnSpPr>
          <p:nvPr/>
        </p:nvCxnSpPr>
        <p:spPr>
          <a:xfrm flipH="1" flipV="1">
            <a:off x="7290091" y="1951085"/>
            <a:ext cx="1826405" cy="9724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942B7488-D3AB-DC48-3183-248A7EA8C5E8}"/>
              </a:ext>
            </a:extLst>
          </p:cNvPr>
          <p:cNvSpPr/>
          <p:nvPr/>
        </p:nvSpPr>
        <p:spPr>
          <a:xfrm>
            <a:off x="5461291" y="2222777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 List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list of all of the bodies that are getting propagated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FB58D949-CCC6-DCE1-7137-FD298D55D8CE}"/>
              </a:ext>
            </a:extLst>
          </p:cNvPr>
          <p:cNvCxnSpPr>
            <a:cxnSpLocks/>
            <a:stCxn id="27" idx="1"/>
            <a:endCxn id="68" idx="3"/>
          </p:cNvCxnSpPr>
          <p:nvPr/>
        </p:nvCxnSpPr>
        <p:spPr>
          <a:xfrm flipH="1" flipV="1">
            <a:off x="7290091" y="2451377"/>
            <a:ext cx="1826405" cy="2304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A474B951-DDBA-9EB2-BC57-8001ED604A6A}"/>
              </a:ext>
            </a:extLst>
          </p:cNvPr>
          <p:cNvSpPr/>
          <p:nvPr/>
        </p:nvSpPr>
        <p:spPr>
          <a:xfrm>
            <a:off x="5461291" y="2750627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 Module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 UTC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 step, tolerances, 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1BF86AF3-2ACD-5384-C416-B7CC596F628C}"/>
              </a:ext>
            </a:extLst>
          </p:cNvPr>
          <p:cNvSpPr/>
          <p:nvPr/>
        </p:nvSpPr>
        <p:spPr>
          <a:xfrm>
            <a:off x="643317" y="420231"/>
            <a:ext cx="1828800" cy="2329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Propagator List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ECBB7009-DB7F-B7A2-23BE-9E690E5B6CAE}"/>
              </a:ext>
            </a:extLst>
          </p:cNvPr>
          <p:cNvSpPr/>
          <p:nvPr/>
        </p:nvSpPr>
        <p:spPr>
          <a:xfrm>
            <a:off x="643317" y="685961"/>
            <a:ext cx="1828800" cy="2329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Visual Properties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5F2BDB02-C73B-CB94-384D-8E18AFC7335B}"/>
              </a:ext>
            </a:extLst>
          </p:cNvPr>
          <p:cNvCxnSpPr>
            <a:cxnSpLocks/>
            <a:stCxn id="55" idx="1"/>
            <a:endCxn id="93" idx="3"/>
          </p:cNvCxnSpPr>
          <p:nvPr/>
        </p:nvCxnSpPr>
        <p:spPr>
          <a:xfrm flipH="1" flipV="1">
            <a:off x="2472117" y="536687"/>
            <a:ext cx="2852289" cy="19090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45ACF421-507B-551B-2C12-93C34C870103}"/>
              </a:ext>
            </a:extLst>
          </p:cNvPr>
          <p:cNvSpPr/>
          <p:nvPr/>
        </p:nvSpPr>
        <p:spPr>
          <a:xfrm>
            <a:off x="488784" y="3137938"/>
            <a:ext cx="2899155" cy="3430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Event Manager 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DA7F7E6F-0C0E-46AD-D1A2-1F1A857C6641}"/>
              </a:ext>
            </a:extLst>
          </p:cNvPr>
          <p:cNvSpPr/>
          <p:nvPr/>
        </p:nvSpPr>
        <p:spPr>
          <a:xfrm>
            <a:off x="488784" y="3629623"/>
            <a:ext cx="2899155" cy="3430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Graph and Data Manager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BC90508D-A3A1-466A-3861-8D6BFEFF7916}"/>
              </a:ext>
            </a:extLst>
          </p:cNvPr>
          <p:cNvSpPr/>
          <p:nvPr/>
        </p:nvSpPr>
        <p:spPr>
          <a:xfrm>
            <a:off x="488784" y="4121307"/>
            <a:ext cx="2899155" cy="3430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Optical Module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7B5EC2CF-65DD-79FE-2489-BC7E47C9447D}"/>
              </a:ext>
            </a:extLst>
          </p:cNvPr>
          <p:cNvSpPr/>
          <p:nvPr/>
        </p:nvSpPr>
        <p:spPr>
          <a:xfrm>
            <a:off x="488784" y="4612991"/>
            <a:ext cx="2899155" cy="3430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Collision Module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8D5D063C-4CC2-AA32-D1FA-E0908EEED5C8}"/>
              </a:ext>
            </a:extLst>
          </p:cNvPr>
          <p:cNvSpPr/>
          <p:nvPr/>
        </p:nvSpPr>
        <p:spPr>
          <a:xfrm>
            <a:off x="488784" y="5104675"/>
            <a:ext cx="2899155" cy="3430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Communications Module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F02B69C-3BAE-A0DA-8874-276EC1943A21}"/>
              </a:ext>
            </a:extLst>
          </p:cNvPr>
          <p:cNvSpPr/>
          <p:nvPr/>
        </p:nvSpPr>
        <p:spPr>
          <a:xfrm>
            <a:off x="488784" y="5596360"/>
            <a:ext cx="2899155" cy="3430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Attitude Dynamics Module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24AB622B-2BF9-9B48-A780-E16A5A3BCC09}"/>
              </a:ext>
            </a:extLst>
          </p:cNvPr>
          <p:cNvSpPr/>
          <p:nvPr/>
        </p:nvSpPr>
        <p:spPr>
          <a:xfrm>
            <a:off x="5461291" y="3305738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 Frame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 ECI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12675493-C622-CE95-64F0-2E171A2072B2}"/>
              </a:ext>
            </a:extLst>
          </p:cNvPr>
          <p:cNvSpPr/>
          <p:nvPr/>
        </p:nvSpPr>
        <p:spPr>
          <a:xfrm>
            <a:off x="9116496" y="5775967"/>
            <a:ext cx="2834640" cy="4359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 Frame Module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Used to change reference frames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433AE0D8-2E5B-7D03-F4A6-445F493F5967}"/>
              </a:ext>
            </a:extLst>
          </p:cNvPr>
          <p:cNvCxnSpPr>
            <a:cxnSpLocks/>
            <a:stCxn id="108" idx="1"/>
            <a:endCxn id="107" idx="3"/>
          </p:cNvCxnSpPr>
          <p:nvPr/>
        </p:nvCxnSpPr>
        <p:spPr>
          <a:xfrm flipH="1" flipV="1">
            <a:off x="7290091" y="3534338"/>
            <a:ext cx="1826405" cy="24596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3678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37C19B-0D42-2C9C-C8FD-D89DE63D00A3}"/>
              </a:ext>
            </a:extLst>
          </p:cNvPr>
          <p:cNvSpPr/>
          <p:nvPr/>
        </p:nvSpPr>
        <p:spPr>
          <a:xfrm>
            <a:off x="5461291" y="1222192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General Object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Description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74CA1B-8859-06D1-341D-AB77AD3C1F76}"/>
              </a:ext>
            </a:extLst>
          </p:cNvPr>
          <p:cNvSpPr/>
          <p:nvPr/>
        </p:nvSpPr>
        <p:spPr>
          <a:xfrm>
            <a:off x="4724412" y="2133243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Celestial Object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373A42-23E8-4D1B-598E-55E6428F5BC2}"/>
              </a:ext>
            </a:extLst>
          </p:cNvPr>
          <p:cNvSpPr/>
          <p:nvPr/>
        </p:nvSpPr>
        <p:spPr>
          <a:xfrm>
            <a:off x="3570526" y="2971800"/>
            <a:ext cx="1828800" cy="81140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Space Vehicle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Properties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 Properties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91676-FE42-0DBE-0F9B-1479FD24D0D1}"/>
              </a:ext>
            </a:extLst>
          </p:cNvPr>
          <p:cNvSpPr/>
          <p:nvPr/>
        </p:nvSpPr>
        <p:spPr>
          <a:xfrm>
            <a:off x="808903" y="1720780"/>
            <a:ext cx="1828800" cy="13381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Properties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velocity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acceleration</a:t>
            </a: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positionHistory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velocityHistory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accelerationHistory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*attitude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7103A5-397D-BCD2-7EE2-651ACC0C5ABB}"/>
              </a:ext>
            </a:extLst>
          </p:cNvPr>
          <p:cNvSpPr/>
          <p:nvPr/>
        </p:nvSpPr>
        <p:spPr>
          <a:xfrm>
            <a:off x="8100657" y="3058886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Moon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1D3E16-BDDD-BC13-3823-6DB59F76B616}"/>
              </a:ext>
            </a:extLst>
          </p:cNvPr>
          <p:cNvSpPr/>
          <p:nvPr/>
        </p:nvSpPr>
        <p:spPr>
          <a:xfrm>
            <a:off x="6206543" y="3124200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Planet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429792-9729-2CE4-43F2-9358F7342297}"/>
              </a:ext>
            </a:extLst>
          </p:cNvPr>
          <p:cNvSpPr/>
          <p:nvPr/>
        </p:nvSpPr>
        <p:spPr>
          <a:xfrm>
            <a:off x="808903" y="3961562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 Properties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*colors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3D3E45-1A5A-1E17-AB13-870AE94AD7C8}"/>
              </a:ext>
            </a:extLst>
          </p:cNvPr>
          <p:cNvSpPr/>
          <p:nvPr/>
        </p:nvSpPr>
        <p:spPr>
          <a:xfrm>
            <a:off x="808903" y="4468166"/>
            <a:ext cx="1828800" cy="14151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radius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j2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A82010A-8928-C1FA-52E5-B1920C22890E}"/>
              </a:ext>
            </a:extLst>
          </p:cNvPr>
          <p:cNvCxnSpPr>
            <a:stCxn id="2" idx="2"/>
            <a:endCxn id="4" idx="0"/>
          </p:cNvCxnSpPr>
          <p:nvPr/>
        </p:nvCxnSpPr>
        <p:spPr>
          <a:xfrm flipH="1">
            <a:off x="5638812" y="1679392"/>
            <a:ext cx="736879" cy="4538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5D12E18-0011-6B86-AB95-E2A14A620B05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>
            <a:off x="5638812" y="2590443"/>
            <a:ext cx="1482131" cy="533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1F0D03A-1EC5-0467-FD4A-71649F092306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5638812" y="2590443"/>
            <a:ext cx="3376245" cy="468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3D9976F-4E1C-1D38-4962-98C690B9380B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4484926" y="2590443"/>
            <a:ext cx="1153886" cy="381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EAA3878F-8584-DA44-A8E6-260D4E2C0532}"/>
              </a:ext>
            </a:extLst>
          </p:cNvPr>
          <p:cNvSpPr/>
          <p:nvPr/>
        </p:nvSpPr>
        <p:spPr>
          <a:xfrm>
            <a:off x="8160948" y="1492180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Object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9AD3E8E-CF61-7E0E-22E8-75162818BF38}"/>
              </a:ext>
            </a:extLst>
          </p:cNvPr>
          <p:cNvSpPr/>
          <p:nvPr/>
        </p:nvSpPr>
        <p:spPr>
          <a:xfrm>
            <a:off x="8160948" y="2046933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 Object</a:t>
            </a:r>
          </a:p>
        </p:txBody>
      </p:sp>
    </p:spTree>
    <p:extLst>
      <p:ext uri="{BB962C8B-B14F-4D97-AF65-F5344CB8AC3E}">
        <p14:creationId xmlns:p14="http://schemas.microsoft.com/office/powerpoint/2010/main" val="26885101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2191</TotalTime>
  <Words>224</Words>
  <Application>Microsoft Office PowerPoint</Application>
  <PresentationFormat>Widescreen</PresentationFormat>
  <Paragraphs>81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Yoder</dc:creator>
  <cp:lastModifiedBy>Brennan Yoder</cp:lastModifiedBy>
  <cp:revision>6</cp:revision>
  <dcterms:created xsi:type="dcterms:W3CDTF">2025-12-23T05:28:36Z</dcterms:created>
  <dcterms:modified xsi:type="dcterms:W3CDTF">2025-12-24T17:59:44Z</dcterms:modified>
</cp:coreProperties>
</file>