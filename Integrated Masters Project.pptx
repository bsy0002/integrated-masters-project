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4" r:id="rId5"/>
    <p:sldId id="265" r:id="rId6"/>
    <p:sldId id="266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3" autoAdjust="0"/>
    <p:restoredTop sz="94660"/>
  </p:normalViewPr>
  <p:slideViewPr>
    <p:cSldViewPr snapToGrid="0">
      <p:cViewPr>
        <p:scale>
          <a:sx n="188" d="100"/>
          <a:sy n="188" d="100"/>
        </p:scale>
        <p:origin x="-924" y="-14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AAB19-AC25-F91D-F3D3-42B279A5C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836E0-35CF-4186-7C89-76F981A5E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285B-A209-FC9B-7993-46A26C9B7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63753-78A2-F69D-D6E9-A339107C5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7344D-CA37-FF84-885A-21FBB23EC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356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F3C88-2EF3-8F93-3EAD-EBA26C16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1BACE-EB39-9EDA-283A-FE166A3EE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26A7A-7A41-045B-3CDD-1C2485C20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2D5F6-6050-2BA6-4FF3-A4DA8B427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81165-CC01-2F77-F95F-D03BC5BE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888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F17A8-8492-1393-D811-78AEB5CF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EF323-2CB0-B330-1EC0-EEBF96E98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A5F9E-7295-95F8-8BAA-2BE64A762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5BB49-673F-E1A4-B930-F8584DD13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CE1E3-0F03-AFA6-ADA7-33410EFC0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65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8E0D-E98C-A25A-9220-922758F16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1C0D8-A798-C239-DE54-E39522AB48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DEB6F9-416A-0279-81E7-80C1998B4B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EAA21-3F35-F2A1-1732-4528066D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4FD86-3247-C888-09D0-AA7A0B7B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E1FBA-3BB7-007F-1F2E-E31E695F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22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DA497-ADEE-83C0-368B-6CCEBEDF7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BA077-863D-02AF-D87E-4EF12B1AAB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E110D9-71B7-73FF-4E0F-11EF5177D9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939D2-808A-0606-0840-06136A8B2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0BB433-E7BD-22A6-3FFE-2504C9D38E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65F565-F6AD-3194-30D7-5A8CC09E2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0043A-394D-8F62-8A51-46D8E26B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0AB99-EA3D-3637-DE7F-B478DE454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30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11ABD-41B2-8E64-AFAD-7E331172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DD53C6-8846-4E5C-6356-83050ACA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E94E42-A579-3D03-4B0C-B6AEF8D7B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4F696-C6BD-182B-1D6F-CA9B6135B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74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EFD125-EBFE-5F45-CC2E-A67646572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8F9499-CB90-0263-5C0D-69F3BCA52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13048-F3B3-CE02-6A35-F0F7E592B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08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73B30-FF8B-DC11-4847-FDA4DF891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AB4F0-F860-0EB7-B308-CB611BD6A9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5361AE-354F-0A13-1005-BE197868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EB3B76-B9B4-3E62-8B60-92482594F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3FF2C-45B7-26FB-B9F8-86C369F7E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A8FECF-1A45-FFCA-1B48-2F915AA16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45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31E3-5DC0-7DB9-B48A-CC99ED0B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745068-29FF-CFB5-A109-20A135C235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2F14EA-898D-7322-B849-D1F53D51F5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CEF1B-9313-ADAB-8DE9-31E47514A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A789B-DB2F-E724-3DD6-DE6366F6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A2A23-D99C-A717-7A0D-0C153B72E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972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E6590-AD52-8D7D-88A8-8708B42F5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F387B-116F-DAE5-CA87-2A69FD582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8F72C-A6D7-7805-57E9-EF92959E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C44B5-C1A8-E220-9E13-EFF867984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8939A-563B-9727-7CBF-15538B381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90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E1F932-67E5-F81A-4538-7FD8FADD52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FE7D94-D017-BAA2-8A42-9AE22A0E7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4B5990-34E6-31B3-70F9-8805FA0D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CD16-1CBB-EE8C-BB68-ED995285A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9C7A8-3689-D296-75B3-6336A310D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206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5586C7-6EB0-01D9-20EC-160F73793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AC106-63E6-43F3-F163-2F21CDCE2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BD8CE6-631F-BBDA-8470-0552DB8DB7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15712-9535-4045-B0C7-D22E271B741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74DDD-372E-A9B7-F81B-20A77116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BB62A-C76A-3B7D-3F86-89FB521BB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708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0AB7B8-267C-2EA9-D64D-34990CA7CC99}"/>
              </a:ext>
            </a:extLst>
          </p:cNvPr>
          <p:cNvSpPr/>
          <p:nvPr/>
        </p:nvSpPr>
        <p:spPr>
          <a:xfrm>
            <a:off x="488784" y="90806"/>
            <a:ext cx="3966667" cy="27177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(Implementation)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627C39-CB20-FD04-6C21-BE890C91A948}"/>
              </a:ext>
            </a:extLst>
          </p:cNvPr>
          <p:cNvSpPr/>
          <p:nvPr/>
        </p:nvSpPr>
        <p:spPr>
          <a:xfrm>
            <a:off x="9919800" y="480178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State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8C5C24C-217B-6EA0-0C09-5CDE5BC56B1C}"/>
              </a:ext>
            </a:extLst>
          </p:cNvPr>
          <p:cNvSpPr/>
          <p:nvPr/>
        </p:nvSpPr>
        <p:spPr>
          <a:xfrm>
            <a:off x="9205913" y="4249603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FEA430-8758-7E2F-3865-AFBA8D0B334F}"/>
              </a:ext>
            </a:extLst>
          </p:cNvPr>
          <p:cNvSpPr/>
          <p:nvPr/>
        </p:nvSpPr>
        <p:spPr>
          <a:xfrm>
            <a:off x="9205913" y="4499848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BE307A-928C-C26E-D8E3-F16BB44F3117}"/>
              </a:ext>
            </a:extLst>
          </p:cNvPr>
          <p:cNvSpPr/>
          <p:nvPr/>
        </p:nvSpPr>
        <p:spPr>
          <a:xfrm>
            <a:off x="9116496" y="3913972"/>
            <a:ext cx="2834640" cy="16838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479C98-6C8F-53F6-CC27-A8A05E995A8F}"/>
              </a:ext>
            </a:extLst>
          </p:cNvPr>
          <p:cNvSpPr/>
          <p:nvPr/>
        </p:nvSpPr>
        <p:spPr>
          <a:xfrm>
            <a:off x="10705196" y="510405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Keplerian State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C6F869-382F-C3CD-8B35-8E7425528C17}"/>
              </a:ext>
            </a:extLst>
          </p:cNvPr>
          <p:cNvSpPr/>
          <p:nvPr/>
        </p:nvSpPr>
        <p:spPr>
          <a:xfrm>
            <a:off x="10705196" y="532890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Osculating State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EDC362-9400-E972-9DCD-327D058D568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10514160" y="4974519"/>
            <a:ext cx="191036" cy="21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3B138A-6336-A0A4-DF39-EFA2D1BCE044}"/>
              </a:ext>
            </a:extLst>
          </p:cNvPr>
          <p:cNvCxnSpPr>
            <a:cxnSpLocks/>
            <a:stCxn id="21" idx="2"/>
            <a:endCxn id="30" idx="1"/>
          </p:cNvCxnSpPr>
          <p:nvPr/>
        </p:nvCxnSpPr>
        <p:spPr>
          <a:xfrm>
            <a:off x="10514160" y="4974519"/>
            <a:ext cx="191036" cy="440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28750FE-4D09-3E44-5B6C-254D9F1D6418}"/>
              </a:ext>
            </a:extLst>
          </p:cNvPr>
          <p:cNvCxnSpPr>
            <a:stCxn id="25" idx="2"/>
            <a:endCxn id="21" idx="1"/>
          </p:cNvCxnSpPr>
          <p:nvPr/>
        </p:nvCxnSpPr>
        <p:spPr>
          <a:xfrm>
            <a:off x="9800273" y="4672581"/>
            <a:ext cx="119527" cy="215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F9CF41E4-8168-F856-53DD-F73ABF8EF43C}"/>
              </a:ext>
            </a:extLst>
          </p:cNvPr>
          <p:cNvSpPr/>
          <p:nvPr/>
        </p:nvSpPr>
        <p:spPr>
          <a:xfrm>
            <a:off x="9116496" y="420231"/>
            <a:ext cx="2834640" cy="1512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 List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Point-mass (central body) gravity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Non-spherical gravity (J2 and higher harmonics)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Third-body gravity (Sun, Moon, planets)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Atmospheric drag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Solar radiation pressure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Eclipse / shadowing (for SRP)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Impulsive thrust (ΔV maneuvers)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Finite / continuous thrust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Relativistic correction (first-order)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C0CDA18-E999-4CF8-D3D4-AE8B187CF578}"/>
              </a:ext>
            </a:extLst>
          </p:cNvPr>
          <p:cNvSpPr/>
          <p:nvPr/>
        </p:nvSpPr>
        <p:spPr>
          <a:xfrm>
            <a:off x="9116496" y="2167102"/>
            <a:ext cx="2834640" cy="1512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List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Euler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Modified Euler (Heun)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Midpoint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Verlet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Verlet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Leapfrog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 (RK2)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 (RK4)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–Fehlberg (RKF45)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Dormand–Prince (DOPRI5)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1C89EE1-0FBD-6813-2095-3EAAA3D60EB2}"/>
              </a:ext>
            </a:extLst>
          </p:cNvPr>
          <p:cNvSpPr/>
          <p:nvPr/>
        </p:nvSpPr>
        <p:spPr>
          <a:xfrm>
            <a:off x="5324406" y="918873"/>
            <a:ext cx="2899155" cy="30538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390A255-F986-E754-140C-5A8C21EDF38E}"/>
              </a:ext>
            </a:extLst>
          </p:cNvPr>
          <p:cNvSpPr/>
          <p:nvPr/>
        </p:nvSpPr>
        <p:spPr>
          <a:xfrm>
            <a:off x="5461291" y="12221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Force Models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Computes all the applied forces at a specific 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98C96F6-FB5D-A050-71E7-C96DFA847347}"/>
              </a:ext>
            </a:extLst>
          </p:cNvPr>
          <p:cNvSpPr/>
          <p:nvPr/>
        </p:nvSpPr>
        <p:spPr>
          <a:xfrm>
            <a:off x="5461291" y="1722485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Integrator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Advances the state in time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A4961F4-9BE1-CEA7-220C-C4375AB8E2FC}"/>
              </a:ext>
            </a:extLst>
          </p:cNvPr>
          <p:cNvCxnSpPr>
            <a:cxnSpLocks/>
            <a:stCxn id="52" idx="1"/>
            <a:endCxn id="56" idx="3"/>
          </p:cNvCxnSpPr>
          <p:nvPr/>
        </p:nvCxnSpPr>
        <p:spPr>
          <a:xfrm flipH="1">
            <a:off x="7290091" y="1176681"/>
            <a:ext cx="1826405" cy="274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C214C19-6F60-AF46-B029-C9FB44FF0FC4}"/>
              </a:ext>
            </a:extLst>
          </p:cNvPr>
          <p:cNvCxnSpPr>
            <a:cxnSpLocks/>
            <a:stCxn id="54" idx="1"/>
            <a:endCxn id="57" idx="3"/>
          </p:cNvCxnSpPr>
          <p:nvPr/>
        </p:nvCxnSpPr>
        <p:spPr>
          <a:xfrm flipH="1" flipV="1">
            <a:off x="7290091" y="1951085"/>
            <a:ext cx="1826405" cy="9724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942B7488-D3AB-DC48-3183-248A7EA8C5E8}"/>
              </a:ext>
            </a:extLst>
          </p:cNvPr>
          <p:cNvSpPr/>
          <p:nvPr/>
        </p:nvSpPr>
        <p:spPr>
          <a:xfrm>
            <a:off x="5461291" y="2222777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List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list of all of the bodies that are getting propagated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B58D949-CCC6-DCE1-7137-FD298D55D8CE}"/>
              </a:ext>
            </a:extLst>
          </p:cNvPr>
          <p:cNvCxnSpPr>
            <a:cxnSpLocks/>
            <a:stCxn id="27" idx="1"/>
            <a:endCxn id="68" idx="3"/>
          </p:cNvCxnSpPr>
          <p:nvPr/>
        </p:nvCxnSpPr>
        <p:spPr>
          <a:xfrm flipH="1" flipV="1">
            <a:off x="7290091" y="2451377"/>
            <a:ext cx="1826405" cy="230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474B951-DDBA-9EB2-BC57-8001ED604A6A}"/>
              </a:ext>
            </a:extLst>
          </p:cNvPr>
          <p:cNvSpPr/>
          <p:nvPr/>
        </p:nvSpPr>
        <p:spPr>
          <a:xfrm>
            <a:off x="5461291" y="2750627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Module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UTC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step, tolerances,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BF86AF3-2ACD-5384-C416-B7CC596F628C}"/>
              </a:ext>
            </a:extLst>
          </p:cNvPr>
          <p:cNvSpPr/>
          <p:nvPr/>
        </p:nvSpPr>
        <p:spPr>
          <a:xfrm>
            <a:off x="643317" y="420231"/>
            <a:ext cx="1828800" cy="2329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 List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CBB7009-DB7F-B7A2-23BE-9E690E5B6CAE}"/>
              </a:ext>
            </a:extLst>
          </p:cNvPr>
          <p:cNvSpPr/>
          <p:nvPr/>
        </p:nvSpPr>
        <p:spPr>
          <a:xfrm>
            <a:off x="643317" y="685961"/>
            <a:ext cx="1828800" cy="2329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Visual Properties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F2BDB02-C73B-CB94-384D-8E18AFC7335B}"/>
              </a:ext>
            </a:extLst>
          </p:cNvPr>
          <p:cNvCxnSpPr>
            <a:cxnSpLocks/>
            <a:stCxn id="55" idx="1"/>
            <a:endCxn id="93" idx="3"/>
          </p:cNvCxnSpPr>
          <p:nvPr/>
        </p:nvCxnSpPr>
        <p:spPr>
          <a:xfrm flipH="1" flipV="1">
            <a:off x="2472117" y="536687"/>
            <a:ext cx="2852289" cy="1909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45ACF421-507B-551B-2C12-93C34C870103}"/>
              </a:ext>
            </a:extLst>
          </p:cNvPr>
          <p:cNvSpPr/>
          <p:nvPr/>
        </p:nvSpPr>
        <p:spPr>
          <a:xfrm>
            <a:off x="488784" y="3137938"/>
            <a:ext cx="2899155" cy="3430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 Manager 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A7F7E6F-0C0E-46AD-D1A2-1F1A857C6641}"/>
              </a:ext>
            </a:extLst>
          </p:cNvPr>
          <p:cNvSpPr/>
          <p:nvPr/>
        </p:nvSpPr>
        <p:spPr>
          <a:xfrm>
            <a:off x="488784" y="3629623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Graph and Data Manager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C90508D-A3A1-466A-3861-8D6BFEFF7916}"/>
              </a:ext>
            </a:extLst>
          </p:cNvPr>
          <p:cNvSpPr/>
          <p:nvPr/>
        </p:nvSpPr>
        <p:spPr>
          <a:xfrm>
            <a:off x="488784" y="4121307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Optical Module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B5EC2CF-65DD-79FE-2489-BC7E47C9447D}"/>
              </a:ext>
            </a:extLst>
          </p:cNvPr>
          <p:cNvSpPr/>
          <p:nvPr/>
        </p:nvSpPr>
        <p:spPr>
          <a:xfrm>
            <a:off x="488784" y="4612991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Collision Module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D5D063C-4CC2-AA32-D1FA-E0908EEED5C8}"/>
              </a:ext>
            </a:extLst>
          </p:cNvPr>
          <p:cNvSpPr/>
          <p:nvPr/>
        </p:nvSpPr>
        <p:spPr>
          <a:xfrm>
            <a:off x="488784" y="5104675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 Module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F02B69C-3BAE-A0DA-8874-276EC1943A21}"/>
              </a:ext>
            </a:extLst>
          </p:cNvPr>
          <p:cNvSpPr/>
          <p:nvPr/>
        </p:nvSpPr>
        <p:spPr>
          <a:xfrm>
            <a:off x="488784" y="5596360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Attitude Dynamics Module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4AB622B-2BF9-9B48-A780-E16A5A3BCC09}"/>
              </a:ext>
            </a:extLst>
          </p:cNvPr>
          <p:cNvSpPr/>
          <p:nvPr/>
        </p:nvSpPr>
        <p:spPr>
          <a:xfrm>
            <a:off x="5461291" y="3305738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Frame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ECI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2675493-C622-CE95-64F0-2E171A2072B2}"/>
              </a:ext>
            </a:extLst>
          </p:cNvPr>
          <p:cNvSpPr/>
          <p:nvPr/>
        </p:nvSpPr>
        <p:spPr>
          <a:xfrm>
            <a:off x="9116496" y="5775967"/>
            <a:ext cx="2834640" cy="4359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Frame Module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to change reference frames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33AE0D8-2E5B-7D03-F4A6-445F493F5967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7290091" y="3534338"/>
            <a:ext cx="1826405" cy="2459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678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37C19B-0D42-2C9C-C8FD-D89DE63D00A3}"/>
              </a:ext>
            </a:extLst>
          </p:cNvPr>
          <p:cNvSpPr/>
          <p:nvPr/>
        </p:nvSpPr>
        <p:spPr>
          <a:xfrm>
            <a:off x="5461291" y="12221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General Object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74CA1B-8859-06D1-341D-AB77AD3C1F76}"/>
              </a:ext>
            </a:extLst>
          </p:cNvPr>
          <p:cNvSpPr/>
          <p:nvPr/>
        </p:nvSpPr>
        <p:spPr>
          <a:xfrm>
            <a:off x="4724412" y="2133243"/>
            <a:ext cx="1828800" cy="685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Celestial Object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373A42-23E8-4D1B-598E-55E6428F5BC2}"/>
              </a:ext>
            </a:extLst>
          </p:cNvPr>
          <p:cNvSpPr/>
          <p:nvPr/>
        </p:nvSpPr>
        <p:spPr>
          <a:xfrm>
            <a:off x="3630817" y="3700306"/>
            <a:ext cx="1828800" cy="8114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Space Vehicle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91676-FE42-0DBE-0F9B-1479FD24D0D1}"/>
              </a:ext>
            </a:extLst>
          </p:cNvPr>
          <p:cNvSpPr/>
          <p:nvPr/>
        </p:nvSpPr>
        <p:spPr>
          <a:xfrm>
            <a:off x="808903" y="1720780"/>
            <a:ext cx="1828800" cy="15901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acceleration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accelerationHistory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*attitude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103A5-397D-BCD2-7EE2-651ACC0C5ABB}"/>
              </a:ext>
            </a:extLst>
          </p:cNvPr>
          <p:cNvSpPr/>
          <p:nvPr/>
        </p:nvSpPr>
        <p:spPr>
          <a:xfrm>
            <a:off x="8160948" y="37873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1D3E16-BDDD-BC13-3823-6DB59F76B616}"/>
              </a:ext>
            </a:extLst>
          </p:cNvPr>
          <p:cNvSpPr/>
          <p:nvPr/>
        </p:nvSpPr>
        <p:spPr>
          <a:xfrm>
            <a:off x="6266834" y="37873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Planet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429792-9729-2CE4-43F2-9358F7342297}"/>
              </a:ext>
            </a:extLst>
          </p:cNvPr>
          <p:cNvSpPr/>
          <p:nvPr/>
        </p:nvSpPr>
        <p:spPr>
          <a:xfrm>
            <a:off x="808903" y="396156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*colors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3D3E45-1A5A-1E17-AB13-870AE94AD7C8}"/>
              </a:ext>
            </a:extLst>
          </p:cNvPr>
          <p:cNvSpPr/>
          <p:nvPr/>
        </p:nvSpPr>
        <p:spPr>
          <a:xfrm>
            <a:off x="808903" y="4468166"/>
            <a:ext cx="1828800" cy="14151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82010A-8928-C1FA-52E5-B1920C22890E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5638812" y="1679392"/>
            <a:ext cx="736879" cy="453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D12E18-0011-6B86-AB95-E2A14A620B05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5638812" y="2818563"/>
            <a:ext cx="1542422" cy="968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1F0D03A-1EC5-0467-FD4A-71649F09230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5638812" y="2818563"/>
            <a:ext cx="3436536" cy="968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3D9976F-4E1C-1D38-4962-98C690B9380B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4545217" y="2818563"/>
            <a:ext cx="1093595" cy="881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AA3878F-8584-DA44-A8E6-260D4E2C0532}"/>
              </a:ext>
            </a:extLst>
          </p:cNvPr>
          <p:cNvSpPr/>
          <p:nvPr/>
        </p:nvSpPr>
        <p:spPr>
          <a:xfrm>
            <a:off x="8160948" y="1492180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Object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AD3E8E-CF61-7E0E-22E8-75162818BF38}"/>
              </a:ext>
            </a:extLst>
          </p:cNvPr>
          <p:cNvSpPr/>
          <p:nvPr/>
        </p:nvSpPr>
        <p:spPr>
          <a:xfrm>
            <a:off x="8160948" y="2046933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Object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66584D-1F15-65E4-DDAF-8688BD5AF3D9}"/>
              </a:ext>
            </a:extLst>
          </p:cNvPr>
          <p:cNvSpPr/>
          <p:nvPr/>
        </p:nvSpPr>
        <p:spPr>
          <a:xfrm>
            <a:off x="808903" y="218089"/>
            <a:ext cx="1828800" cy="14151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510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B709F5-BF33-ACA7-C6B3-84EE3F0869FD}"/>
              </a:ext>
            </a:extLst>
          </p:cNvPr>
          <p:cNvSpPr/>
          <p:nvPr/>
        </p:nvSpPr>
        <p:spPr>
          <a:xfrm>
            <a:off x="274604" y="288588"/>
            <a:ext cx="5364196" cy="65694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Order of Operations</a:t>
            </a:r>
          </a:p>
          <a:p>
            <a:endParaRPr lang="en-US" sz="12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element is created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Time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Time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Bodies are created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Integrators are created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Ephemeris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RK4 Adaptive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Properties are set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 State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Type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Models (translational and rotational)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Models should be integrated concurrently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min_dt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max_dt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lvl="1" indent="-228600">
              <a:buAutoNum type="arabicPeriod"/>
            </a:pP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Begins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and End Times were already defined in Time Element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Propagate Satellites and Planets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Satellites will use adaptive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dts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(depending on the integrator)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Depending on the force models, the location of the planets will be computed using the ephemeris data that was propagated during propagate planets – also will use an interpolation scheme to compute the values in between time steps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body will have a latest time to track if it is behind or ahead of the other bodies at each step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each propagation, it will be checked if it has collided with a body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A140F43-7767-CAAF-22A0-FB6FD97E03EE}"/>
              </a:ext>
            </a:extLst>
          </p:cNvPr>
          <p:cNvCxnSpPr/>
          <p:nvPr/>
        </p:nvCxnSpPr>
        <p:spPr>
          <a:xfrm>
            <a:off x="6936174" y="696460"/>
            <a:ext cx="4505671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E8C85A-5809-9788-F0C2-610DC1064F6D}"/>
              </a:ext>
            </a:extLst>
          </p:cNvPr>
          <p:cNvCxnSpPr>
            <a:cxnSpLocks/>
          </p:cNvCxnSpPr>
          <p:nvPr/>
        </p:nvCxnSpPr>
        <p:spPr>
          <a:xfrm flipV="1">
            <a:off x="6945650" y="696678"/>
            <a:ext cx="0" cy="139993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5F774FF-885B-8AC6-7BD1-9FCB490B8D4C}"/>
              </a:ext>
            </a:extLst>
          </p:cNvPr>
          <p:cNvSpPr/>
          <p:nvPr/>
        </p:nvSpPr>
        <p:spPr>
          <a:xfrm>
            <a:off x="6730087" y="2150971"/>
            <a:ext cx="431125" cy="397975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B1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6C3B4CD-A4C6-5C79-FD07-0E35FDBF1EA9}"/>
              </a:ext>
            </a:extLst>
          </p:cNvPr>
          <p:cNvCxnSpPr>
            <a:stCxn id="10" idx="6"/>
          </p:cNvCxnSpPr>
          <p:nvPr/>
        </p:nvCxnSpPr>
        <p:spPr>
          <a:xfrm flipV="1">
            <a:off x="7161212" y="2349958"/>
            <a:ext cx="471422" cy="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096A15-9818-036D-832D-17E2780D51EC}"/>
              </a:ext>
            </a:extLst>
          </p:cNvPr>
          <p:cNvSpPr txBox="1"/>
          <p:nvPr/>
        </p:nvSpPr>
        <p:spPr>
          <a:xfrm>
            <a:off x="7154141" y="2038510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t1 = t0 + dt_b1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88307E2-D905-2E6B-A85B-8897C6D0AEB4}"/>
              </a:ext>
            </a:extLst>
          </p:cNvPr>
          <p:cNvSpPr/>
          <p:nvPr/>
        </p:nvSpPr>
        <p:spPr>
          <a:xfrm>
            <a:off x="6730087" y="2696610"/>
            <a:ext cx="431125" cy="397975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B2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525894B-00C6-7F20-DC07-EB8DC506F95C}"/>
              </a:ext>
            </a:extLst>
          </p:cNvPr>
          <p:cNvCxnSpPr>
            <a:cxnSpLocks/>
            <a:stCxn id="14" idx="6"/>
          </p:cNvCxnSpPr>
          <p:nvPr/>
        </p:nvCxnSpPr>
        <p:spPr>
          <a:xfrm flipV="1">
            <a:off x="7161212" y="2895597"/>
            <a:ext cx="78174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0D5FA39-CE31-DC21-D831-EF7316C360F0}"/>
              </a:ext>
            </a:extLst>
          </p:cNvPr>
          <p:cNvSpPr txBox="1"/>
          <p:nvPr/>
        </p:nvSpPr>
        <p:spPr>
          <a:xfrm>
            <a:off x="7503593" y="2618772"/>
            <a:ext cx="8242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t1 = t0 + dt_b2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3903602-9DB6-3BB3-DDB5-E52D9DF683DC}"/>
              </a:ext>
            </a:extLst>
          </p:cNvPr>
          <p:cNvCxnSpPr>
            <a:cxnSpLocks/>
          </p:cNvCxnSpPr>
          <p:nvPr/>
        </p:nvCxnSpPr>
        <p:spPr>
          <a:xfrm flipV="1">
            <a:off x="7603018" y="615915"/>
            <a:ext cx="0" cy="133856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B2A2B7-5993-DF95-B9AF-6E21AE4FA0DE}"/>
              </a:ext>
            </a:extLst>
          </p:cNvPr>
          <p:cNvCxnSpPr>
            <a:cxnSpLocks/>
          </p:cNvCxnSpPr>
          <p:nvPr/>
        </p:nvCxnSpPr>
        <p:spPr>
          <a:xfrm flipH="1" flipV="1">
            <a:off x="7915126" y="615915"/>
            <a:ext cx="600" cy="1874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C66B079-3ED2-8A50-EB5D-22B561F8CB03}"/>
              </a:ext>
            </a:extLst>
          </p:cNvPr>
          <p:cNvSpPr txBox="1"/>
          <p:nvPr/>
        </p:nvSpPr>
        <p:spPr>
          <a:xfrm>
            <a:off x="6744687" y="3262269"/>
            <a:ext cx="488864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Through one iteration, B1 and B2 will be out of sync. t0 + dt_b1 and t0 + dt_b1</a:t>
            </a:r>
          </a:p>
          <a:p>
            <a:pPr marL="342900" indent="-342900">
              <a:buAutoNum type="arabicPeriod"/>
            </a:pPr>
            <a:r>
              <a:rPr lang="en-US" dirty="0"/>
              <a:t>After each iteration, check to see if B1 or B2 has a larger “last time”. In this case, B2 would have the largest time. </a:t>
            </a:r>
          </a:p>
          <a:p>
            <a:pPr marL="342900" indent="-342900">
              <a:buAutoNum type="arabicPeriod"/>
            </a:pPr>
            <a:r>
              <a:rPr lang="en-US" dirty="0"/>
              <a:t>On the next iteration, B2 will be skipped until B1 has a larger “last time”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0362DF2-26E3-40E9-A763-825E41F3FBCE}"/>
              </a:ext>
            </a:extLst>
          </p:cNvPr>
          <p:cNvCxnSpPr/>
          <p:nvPr/>
        </p:nvCxnSpPr>
        <p:spPr>
          <a:xfrm flipV="1">
            <a:off x="7613683" y="2349957"/>
            <a:ext cx="471422" cy="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CE0ADF6-9319-444C-25B8-F08A84EAFBDF}"/>
              </a:ext>
            </a:extLst>
          </p:cNvPr>
          <p:cNvCxnSpPr>
            <a:cxnSpLocks/>
          </p:cNvCxnSpPr>
          <p:nvPr/>
        </p:nvCxnSpPr>
        <p:spPr>
          <a:xfrm flipV="1">
            <a:off x="8085105" y="615915"/>
            <a:ext cx="0" cy="133856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806FB9F-C1A3-1A2C-7DBC-F1A4545ABCAD}"/>
              </a:ext>
            </a:extLst>
          </p:cNvPr>
          <p:cNvSpPr txBox="1"/>
          <p:nvPr/>
        </p:nvSpPr>
        <p:spPr>
          <a:xfrm>
            <a:off x="7957566" y="2043249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t2 = t1 + dt_b1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3682070-D275-6B32-9DCD-178FFA7DDAC9}"/>
              </a:ext>
            </a:extLst>
          </p:cNvPr>
          <p:cNvCxnSpPr>
            <a:cxnSpLocks/>
          </p:cNvCxnSpPr>
          <p:nvPr/>
        </p:nvCxnSpPr>
        <p:spPr>
          <a:xfrm flipV="1">
            <a:off x="7915126" y="2893898"/>
            <a:ext cx="78174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1D5FA74-8A36-5E8B-01B6-909BEFAB059C}"/>
              </a:ext>
            </a:extLst>
          </p:cNvPr>
          <p:cNvCxnSpPr>
            <a:cxnSpLocks/>
          </p:cNvCxnSpPr>
          <p:nvPr/>
        </p:nvCxnSpPr>
        <p:spPr>
          <a:xfrm flipH="1" flipV="1">
            <a:off x="8696873" y="615915"/>
            <a:ext cx="600" cy="1874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375031D-EDFB-EBBF-7FC0-8D0F7C62294B}"/>
              </a:ext>
            </a:extLst>
          </p:cNvPr>
          <p:cNvSpPr txBox="1"/>
          <p:nvPr/>
        </p:nvSpPr>
        <p:spPr>
          <a:xfrm>
            <a:off x="8359278" y="2663540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t2 = t1 + dt_b2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3A8D058-EF6B-988B-D388-B336841557F0}"/>
              </a:ext>
            </a:extLst>
          </p:cNvPr>
          <p:cNvSpPr/>
          <p:nvPr/>
        </p:nvSpPr>
        <p:spPr>
          <a:xfrm>
            <a:off x="7576966" y="157410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074E49-3BDA-0A00-77AE-ECA533CC9F81}"/>
              </a:ext>
            </a:extLst>
          </p:cNvPr>
          <p:cNvCxnSpPr>
            <a:stCxn id="41" idx="2"/>
          </p:cNvCxnSpPr>
          <p:nvPr/>
        </p:nvCxnSpPr>
        <p:spPr>
          <a:xfrm flipH="1">
            <a:off x="7603018" y="431730"/>
            <a:ext cx="110162" cy="184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02FE065-9B91-26E0-700A-C1CCCC9C3648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7713180" y="431730"/>
            <a:ext cx="213186" cy="198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288682F4-4AFF-8BEE-14D5-2178D1C37D13}"/>
              </a:ext>
            </a:extLst>
          </p:cNvPr>
          <p:cNvSpPr/>
          <p:nvPr/>
        </p:nvSpPr>
        <p:spPr>
          <a:xfrm>
            <a:off x="8010580" y="118676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6658AAC-1CD2-36D8-3561-9C694E0239D8}"/>
              </a:ext>
            </a:extLst>
          </p:cNvPr>
          <p:cNvCxnSpPr>
            <a:cxnSpLocks/>
            <a:stCxn id="48" idx="2"/>
          </p:cNvCxnSpPr>
          <p:nvPr/>
        </p:nvCxnSpPr>
        <p:spPr>
          <a:xfrm flipH="1">
            <a:off x="8085105" y="392996"/>
            <a:ext cx="61689" cy="2075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B678AD91-1E75-F50A-130D-D2F53A3D3F9A}"/>
              </a:ext>
            </a:extLst>
          </p:cNvPr>
          <p:cNvSpPr/>
          <p:nvPr/>
        </p:nvSpPr>
        <p:spPr>
          <a:xfrm>
            <a:off x="8518719" y="133248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32C6912-E3E9-B058-9AAB-40C72C25607C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8654933" y="407568"/>
            <a:ext cx="52580" cy="192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BDB0B38-CC2A-72F5-5244-F1ED3E36AF0D}"/>
              </a:ext>
            </a:extLst>
          </p:cNvPr>
          <p:cNvSpPr/>
          <p:nvPr/>
        </p:nvSpPr>
        <p:spPr>
          <a:xfrm>
            <a:off x="10618503" y="359602"/>
            <a:ext cx="533893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BFF57E8-2B20-8541-96F1-A5BA4B732363}"/>
              </a:ext>
            </a:extLst>
          </p:cNvPr>
          <p:cNvSpPr/>
          <p:nvPr/>
        </p:nvSpPr>
        <p:spPr>
          <a:xfrm>
            <a:off x="9309240" y="1767835"/>
            <a:ext cx="1349132" cy="100342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If B1 is dependent on B3, it will use an interpolation function to compute the state of B2</a:t>
            </a:r>
          </a:p>
        </p:txBody>
      </p:sp>
    </p:spTree>
    <p:extLst>
      <p:ext uri="{BB962C8B-B14F-4D97-AF65-F5344CB8AC3E}">
        <p14:creationId xmlns:p14="http://schemas.microsoft.com/office/powerpoint/2010/main" val="4171196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389206-F054-E1FF-9787-300EC21067CA}"/>
              </a:ext>
            </a:extLst>
          </p:cNvPr>
          <p:cNvSpPr/>
          <p:nvPr/>
        </p:nvSpPr>
        <p:spPr>
          <a:xfrm>
            <a:off x="2320248" y="384248"/>
            <a:ext cx="4391136" cy="240004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800" b="1" dirty="0">
                <a:solidFill>
                  <a:schemeClr val="tx1"/>
                </a:solidFill>
              </a:rPr>
              <a:t>Force Model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A8E70E-9D85-BC3E-1D1F-CE9B38219EC8}"/>
              </a:ext>
            </a:extLst>
          </p:cNvPr>
          <p:cNvSpPr/>
          <p:nvPr/>
        </p:nvSpPr>
        <p:spPr>
          <a:xfrm>
            <a:off x="2440112" y="1335636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Translational Acceleration</a:t>
            </a:r>
          </a:p>
          <a:p>
            <a:pPr algn="ctr"/>
            <a:r>
              <a:rPr lang="en-US" sz="800" dirty="0" err="1">
                <a:solidFill>
                  <a:schemeClr val="tx1"/>
                </a:solidFill>
              </a:rPr>
              <a:t>ddX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ddY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ddZ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2D70A2-D7AC-FBD8-760A-59AD2D3FF7EF}"/>
              </a:ext>
            </a:extLst>
          </p:cNvPr>
          <p:cNvSpPr/>
          <p:nvPr/>
        </p:nvSpPr>
        <p:spPr>
          <a:xfrm>
            <a:off x="4592872" y="1335636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Rotational Acceleration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q1, q2, q3, q4,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A7A23F-14B8-75F0-737C-409F2297732C}"/>
              </a:ext>
            </a:extLst>
          </p:cNvPr>
          <p:cNvSpPr/>
          <p:nvPr/>
        </p:nvSpPr>
        <p:spPr>
          <a:xfrm>
            <a:off x="3508946" y="2011359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Next Time State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X, Y, Z, </a:t>
            </a:r>
            <a:r>
              <a:rPr lang="en-US" sz="800" dirty="0" err="1">
                <a:solidFill>
                  <a:schemeClr val="tx1"/>
                </a:solidFill>
              </a:rPr>
              <a:t>dX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dZ</a:t>
            </a:r>
            <a:endParaRPr lang="en-US" sz="800" dirty="0">
              <a:solidFill>
                <a:schemeClr val="tx1"/>
              </a:solidFill>
            </a:endParaRP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q1, q2, q3, q4, 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E0961E-1E41-1B30-770F-F295BD08727B}"/>
              </a:ext>
            </a:extLst>
          </p:cNvPr>
          <p:cNvSpPr/>
          <p:nvPr/>
        </p:nvSpPr>
        <p:spPr>
          <a:xfrm>
            <a:off x="3508947" y="665440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Initial Time State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X, Y, Z, </a:t>
            </a:r>
            <a:r>
              <a:rPr lang="en-US" sz="800" dirty="0" err="1">
                <a:solidFill>
                  <a:schemeClr val="tx1"/>
                </a:solidFill>
              </a:rPr>
              <a:t>dX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dZ</a:t>
            </a:r>
            <a:endParaRPr lang="en-US" sz="800" dirty="0">
              <a:solidFill>
                <a:schemeClr val="tx1"/>
              </a:solidFill>
            </a:endParaRP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q1, q2, q3, q4, w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864DE3-EF2A-2C83-9730-8A4B6E1FE2A9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4515815" y="1171249"/>
            <a:ext cx="1083925" cy="164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B3D1-6D4E-8CDC-71A5-5DEAEDB2AEE9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3446980" y="1165722"/>
            <a:ext cx="1068835" cy="169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05B2069-1EE7-51ED-DBD7-5613E75F218B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>
            <a:off x="3446980" y="1841445"/>
            <a:ext cx="1068834" cy="169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53A1FF9-2F01-184C-CB23-5E108CE1E249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4515814" y="1841445"/>
            <a:ext cx="1083926" cy="169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D19A1F-B2F1-FDFF-3312-602AA4666D62}"/>
              </a:ext>
            </a:extLst>
          </p:cNvPr>
          <p:cNvSpPr/>
          <p:nvPr/>
        </p:nvSpPr>
        <p:spPr>
          <a:xfrm>
            <a:off x="2716225" y="4376464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Translational State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x, y, z, dx, </a:t>
            </a:r>
            <a:r>
              <a:rPr lang="en-US" sz="800" dirty="0" err="1">
                <a:solidFill>
                  <a:schemeClr val="tx1"/>
                </a:solidFill>
              </a:rPr>
              <a:t>dy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dz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E5742F-D345-3D1E-9AC6-C5431E878476}"/>
              </a:ext>
            </a:extLst>
          </p:cNvPr>
          <p:cNvSpPr/>
          <p:nvPr/>
        </p:nvSpPr>
        <p:spPr>
          <a:xfrm>
            <a:off x="4960988" y="4376464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Attitude State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q1, q2, q3, q4, </a:t>
            </a:r>
            <a:r>
              <a:rPr lang="en-US" sz="800" dirty="0" err="1">
                <a:solidFill>
                  <a:schemeClr val="tx1"/>
                </a:solidFill>
              </a:rPr>
              <a:t>wx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wy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wz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C59F9F-5F04-A0D5-A97D-C64CD9461EA9}"/>
              </a:ext>
            </a:extLst>
          </p:cNvPr>
          <p:cNvSpPr/>
          <p:nvPr/>
        </p:nvSpPr>
        <p:spPr>
          <a:xfrm>
            <a:off x="2716224" y="3735685"/>
            <a:ext cx="4258499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Full State</a:t>
            </a:r>
          </a:p>
        </p:txBody>
      </p:sp>
    </p:spTree>
    <p:extLst>
      <p:ext uri="{BB962C8B-B14F-4D97-AF65-F5344CB8AC3E}">
        <p14:creationId xmlns:p14="http://schemas.microsoft.com/office/powerpoint/2010/main" val="2101488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F5E9444-74F8-EFA7-61B9-1942BE7F83AC}"/>
              </a:ext>
            </a:extLst>
          </p:cNvPr>
          <p:cNvSpPr/>
          <p:nvPr/>
        </p:nvSpPr>
        <p:spPr>
          <a:xfrm>
            <a:off x="6915815" y="1799646"/>
            <a:ext cx="1828800" cy="1828800"/>
          </a:xfrm>
          <a:prstGeom prst="ellipse">
            <a:avLst/>
          </a:prstGeom>
          <a:noFill/>
          <a:ln w="31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ECC9AA5-1E88-D63B-B52A-8B41B85928F3}"/>
              </a:ext>
            </a:extLst>
          </p:cNvPr>
          <p:cNvSpPr/>
          <p:nvPr/>
        </p:nvSpPr>
        <p:spPr>
          <a:xfrm>
            <a:off x="7256982" y="2259330"/>
            <a:ext cx="1149553" cy="9144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12EFD70-E014-5286-62CA-39044C24AA4D}"/>
              </a:ext>
            </a:extLst>
          </p:cNvPr>
          <p:cNvSpPr/>
          <p:nvPr/>
        </p:nvSpPr>
        <p:spPr>
          <a:xfrm>
            <a:off x="10407721" y="847618"/>
            <a:ext cx="616450" cy="570216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C415CF-14BD-6386-F5BC-2A9AB40B1E74}"/>
              </a:ext>
            </a:extLst>
          </p:cNvPr>
          <p:cNvSpPr txBox="1"/>
          <p:nvPr/>
        </p:nvSpPr>
        <p:spPr>
          <a:xfrm>
            <a:off x="10407721" y="554804"/>
            <a:ext cx="8547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Body Effects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5014317-120C-B1E9-437E-104187C96EE0}"/>
              </a:ext>
            </a:extLst>
          </p:cNvPr>
          <p:cNvSpPr/>
          <p:nvPr/>
        </p:nvSpPr>
        <p:spPr>
          <a:xfrm rot="17043330">
            <a:off x="7914164" y="1732785"/>
            <a:ext cx="174661" cy="19007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49DB4B-1C48-6EEB-B3BA-0315A7400E82}"/>
              </a:ext>
            </a:extLst>
          </p:cNvPr>
          <p:cNvSpPr/>
          <p:nvPr/>
        </p:nvSpPr>
        <p:spPr>
          <a:xfrm>
            <a:off x="7799328" y="2184640"/>
            <a:ext cx="64861" cy="683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D61E6C-47F9-07A6-5BB2-A168A3CCA07A}"/>
              </a:ext>
            </a:extLst>
          </p:cNvPr>
          <p:cNvSpPr/>
          <p:nvPr/>
        </p:nvSpPr>
        <p:spPr>
          <a:xfrm rot="20584900">
            <a:off x="7598190" y="2217165"/>
            <a:ext cx="64861" cy="683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AD8DD9-70DA-F47B-48D3-E535298EB9E0}"/>
              </a:ext>
            </a:extLst>
          </p:cNvPr>
          <p:cNvCxnSpPr>
            <a:stCxn id="6" idx="0"/>
            <a:endCxn id="5" idx="1"/>
          </p:cNvCxnSpPr>
          <p:nvPr/>
        </p:nvCxnSpPr>
        <p:spPr>
          <a:xfrm flipV="1">
            <a:off x="7831759" y="1870179"/>
            <a:ext cx="159131" cy="314461"/>
          </a:xfrm>
          <a:prstGeom prst="straightConnector1">
            <a:avLst/>
          </a:prstGeom>
          <a:ln w="3175">
            <a:solidFill>
              <a:schemeClr val="accent2">
                <a:lumMod val="60000"/>
                <a:lumOff val="4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59B95CA-B0C3-25B7-8185-4AE8F6E71903}"/>
              </a:ext>
            </a:extLst>
          </p:cNvPr>
          <p:cNvSpPr txBox="1"/>
          <p:nvPr/>
        </p:nvSpPr>
        <p:spPr>
          <a:xfrm>
            <a:off x="5773335" y="1928229"/>
            <a:ext cx="886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Operator Control</a:t>
            </a:r>
          </a:p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Control</a:t>
            </a:r>
          </a:p>
          <a:p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50649F-37D5-1D2F-6E77-A8FECD18DC49}"/>
              </a:ext>
            </a:extLst>
          </p:cNvPr>
          <p:cNvCxnSpPr>
            <a:cxnSpLocks/>
            <a:stCxn id="2" idx="6"/>
          </p:cNvCxnSpPr>
          <p:nvPr/>
        </p:nvCxnSpPr>
        <p:spPr>
          <a:xfrm>
            <a:off x="8406535" y="2716530"/>
            <a:ext cx="914400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80372F-7F34-CB79-832F-FC50629D15E1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7831759" y="3173730"/>
            <a:ext cx="0" cy="91440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4440BA-3167-F985-68C5-5C6288B5F88B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550014" y="1720024"/>
            <a:ext cx="359290" cy="84716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7D6886-0D6E-550D-6BAB-BF1ED45B2DBE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920524" y="1870179"/>
            <a:ext cx="70366" cy="288883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933DC70-2DF0-2C30-261E-F6E48DD76948}"/>
              </a:ext>
            </a:extLst>
          </p:cNvPr>
          <p:cNvSpPr txBox="1"/>
          <p:nvPr/>
        </p:nvSpPr>
        <p:spPr>
          <a:xfrm>
            <a:off x="7633833" y="1464769"/>
            <a:ext cx="17924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Translational and Rotational Dynamics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35F088-A784-A66B-BB5E-B00BE2A81A13}"/>
              </a:ext>
            </a:extLst>
          </p:cNvPr>
          <p:cNvSpPr txBox="1"/>
          <p:nvPr/>
        </p:nvSpPr>
        <p:spPr>
          <a:xfrm>
            <a:off x="5881507" y="1339962"/>
            <a:ext cx="13115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Modeling</a:t>
            </a:r>
          </a:p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 Modeling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60585E-D304-A876-6525-8271E0B6080F}"/>
              </a:ext>
            </a:extLst>
          </p:cNvPr>
          <p:cNvSpPr txBox="1"/>
          <p:nvPr/>
        </p:nvSpPr>
        <p:spPr>
          <a:xfrm>
            <a:off x="5942627" y="3004453"/>
            <a:ext cx="9541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Terrain Modeling</a:t>
            </a:r>
          </a:p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 Modeling</a:t>
            </a:r>
          </a:p>
        </p:txBody>
      </p:sp>
    </p:spTree>
    <p:extLst>
      <p:ext uri="{BB962C8B-B14F-4D97-AF65-F5344CB8AC3E}">
        <p14:creationId xmlns:p14="http://schemas.microsoft.com/office/powerpoint/2010/main" val="3480956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8FDD66-18A5-C060-56A8-02817BA3CACF}"/>
              </a:ext>
            </a:extLst>
          </p:cNvPr>
          <p:cNvSpPr/>
          <p:nvPr/>
        </p:nvSpPr>
        <p:spPr>
          <a:xfrm>
            <a:off x="3825572" y="842444"/>
            <a:ext cx="2779459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Integrator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E590D4-EDB6-EB7C-50C5-7E60644ED4A7}"/>
              </a:ext>
            </a:extLst>
          </p:cNvPr>
          <p:cNvSpPr/>
          <p:nvPr/>
        </p:nvSpPr>
        <p:spPr>
          <a:xfrm>
            <a:off x="7194618" y="845564"/>
            <a:ext cx="4258499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Propagator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C574EA-8D4C-B201-4779-87A0C8F80FF6}"/>
              </a:ext>
            </a:extLst>
          </p:cNvPr>
          <p:cNvSpPr/>
          <p:nvPr/>
        </p:nvSpPr>
        <p:spPr>
          <a:xfrm>
            <a:off x="4266637" y="2360652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Force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2EC9FE-C16F-B861-EADF-DCBD87D31433}"/>
              </a:ext>
            </a:extLst>
          </p:cNvPr>
          <p:cNvSpPr/>
          <p:nvPr/>
        </p:nvSpPr>
        <p:spPr>
          <a:xfrm>
            <a:off x="6279444" y="2360652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Linear Acceleration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AB3075-85E7-368E-59A7-1FF37FCB6C51}"/>
              </a:ext>
            </a:extLst>
          </p:cNvPr>
          <p:cNvSpPr/>
          <p:nvPr/>
        </p:nvSpPr>
        <p:spPr>
          <a:xfrm>
            <a:off x="6279444" y="2655276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Angular Acceleration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5817FD-53B6-271D-7207-F568246B7AB7}"/>
              </a:ext>
            </a:extLst>
          </p:cNvPr>
          <p:cNvSpPr/>
          <p:nvPr/>
        </p:nvSpPr>
        <p:spPr>
          <a:xfrm>
            <a:off x="4266637" y="2655276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Torque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45BAD0-C575-710D-5C0C-1FFD87FE26A0}"/>
              </a:ext>
            </a:extLst>
          </p:cNvPr>
          <p:cNvSpPr/>
          <p:nvPr/>
        </p:nvSpPr>
        <p:spPr>
          <a:xfrm>
            <a:off x="1002419" y="2322368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Body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297905-DA46-DEA4-D077-4CBA5F5E73AB}"/>
              </a:ext>
            </a:extLst>
          </p:cNvPr>
          <p:cNvSpPr/>
          <p:nvPr/>
        </p:nvSpPr>
        <p:spPr>
          <a:xfrm>
            <a:off x="1845298" y="4479093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Mass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49AF46-CBBE-54BB-29B5-94A4924DC190}"/>
              </a:ext>
            </a:extLst>
          </p:cNvPr>
          <p:cNvSpPr/>
          <p:nvPr/>
        </p:nvSpPr>
        <p:spPr>
          <a:xfrm>
            <a:off x="1845298" y="5159173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Inertia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ADCC21-E05B-25FD-E356-A8115B6189E7}"/>
              </a:ext>
            </a:extLst>
          </p:cNvPr>
          <p:cNvSpPr/>
          <p:nvPr/>
        </p:nvSpPr>
        <p:spPr>
          <a:xfrm>
            <a:off x="1845298" y="3704688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State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A6B08D-E858-4358-5897-513A7A401521}"/>
              </a:ext>
            </a:extLst>
          </p:cNvPr>
          <p:cNvSpPr/>
          <p:nvPr/>
        </p:nvSpPr>
        <p:spPr>
          <a:xfrm>
            <a:off x="1845298" y="4932481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Att. State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56F0FD-5536-0012-6E4D-2705B8822A26}"/>
              </a:ext>
            </a:extLst>
          </p:cNvPr>
          <p:cNvSpPr/>
          <p:nvPr/>
        </p:nvSpPr>
        <p:spPr>
          <a:xfrm>
            <a:off x="1479538" y="3477994"/>
            <a:ext cx="11887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Properties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73AB34-5B7D-8578-6E1E-B03B53A80FA6}"/>
              </a:ext>
            </a:extLst>
          </p:cNvPr>
          <p:cNvSpPr/>
          <p:nvPr/>
        </p:nvSpPr>
        <p:spPr>
          <a:xfrm>
            <a:off x="1479538" y="4705787"/>
            <a:ext cx="11887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Attitude Properties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A71E4F-9E09-0DE5-ABB3-CEA0870E7012}"/>
              </a:ext>
            </a:extLst>
          </p:cNvPr>
          <p:cNvSpPr/>
          <p:nvPr/>
        </p:nvSpPr>
        <p:spPr>
          <a:xfrm>
            <a:off x="1044870" y="1943117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Additional Body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183F3D-FE79-4011-9228-C9FB69B1A54D}"/>
              </a:ext>
            </a:extLst>
          </p:cNvPr>
          <p:cNvSpPr/>
          <p:nvPr/>
        </p:nvSpPr>
        <p:spPr>
          <a:xfrm>
            <a:off x="1845298" y="3931380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x y z dx </a:t>
            </a:r>
            <a:r>
              <a:rPr lang="en-US" sz="800" dirty="0" err="1">
                <a:solidFill>
                  <a:schemeClr val="tx1"/>
                </a:solidFill>
              </a:rPr>
              <a:t>dy</a:t>
            </a:r>
            <a:r>
              <a:rPr lang="en-US" sz="800" dirty="0">
                <a:solidFill>
                  <a:schemeClr val="tx1"/>
                </a:solidFill>
              </a:rPr>
              <a:t> </a:t>
            </a:r>
            <a:r>
              <a:rPr lang="en-US" sz="800" dirty="0" err="1">
                <a:solidFill>
                  <a:schemeClr val="tx1"/>
                </a:solidFill>
              </a:rPr>
              <a:t>dz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26E14A-D63F-8634-DF58-5C7AF8B6F4FA}"/>
              </a:ext>
            </a:extLst>
          </p:cNvPr>
          <p:cNvSpPr/>
          <p:nvPr/>
        </p:nvSpPr>
        <p:spPr>
          <a:xfrm>
            <a:off x="1459619" y="2596224"/>
            <a:ext cx="11887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Integrator Properties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5E6C96-3365-3CF5-930B-6D40D3FAE5D1}"/>
              </a:ext>
            </a:extLst>
          </p:cNvPr>
          <p:cNvSpPr/>
          <p:nvPr/>
        </p:nvSpPr>
        <p:spPr>
          <a:xfrm>
            <a:off x="1612019" y="2748624"/>
            <a:ext cx="137160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Integrator Properties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FAD3-D468-064B-37A0-035B4831F398}"/>
              </a:ext>
            </a:extLst>
          </p:cNvPr>
          <p:cNvSpPr/>
          <p:nvPr/>
        </p:nvSpPr>
        <p:spPr>
          <a:xfrm>
            <a:off x="1612019" y="3112698"/>
            <a:ext cx="137160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Att. Integrator Properties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D9F0D0-5720-87BC-A35D-25C010F15EA9}"/>
              </a:ext>
            </a:extLst>
          </p:cNvPr>
          <p:cNvSpPr/>
          <p:nvPr/>
        </p:nvSpPr>
        <p:spPr>
          <a:xfrm>
            <a:off x="3622267" y="3931380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Times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D3BD55-0C1E-7121-B704-1279D2450D29}"/>
              </a:ext>
            </a:extLst>
          </p:cNvPr>
          <p:cNvSpPr/>
          <p:nvPr/>
        </p:nvSpPr>
        <p:spPr>
          <a:xfrm>
            <a:off x="3622267" y="4143848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dt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B8571E-A347-FBBD-DBB6-3BB6FA5F47E0}"/>
              </a:ext>
            </a:extLst>
          </p:cNvPr>
          <p:cNvSpPr/>
          <p:nvPr/>
        </p:nvSpPr>
        <p:spPr>
          <a:xfrm>
            <a:off x="3774667" y="4296248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</a:t>
            </a:r>
            <a:r>
              <a:rPr lang="en-US" sz="800" dirty="0" err="1">
                <a:solidFill>
                  <a:schemeClr val="tx1"/>
                </a:solidFill>
              </a:rPr>
              <a:t>tol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448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5EA5C9-D7B9-682C-363F-19FCB2EACC10}"/>
              </a:ext>
            </a:extLst>
          </p:cNvPr>
          <p:cNvSpPr/>
          <p:nvPr/>
        </p:nvSpPr>
        <p:spPr>
          <a:xfrm>
            <a:off x="3825572" y="842444"/>
            <a:ext cx="2779459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tx1"/>
                </a:solidFill>
              </a:rPr>
              <a:t>Integrator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44955A-557B-8DA0-FB6D-DE10CE56865E}"/>
              </a:ext>
            </a:extLst>
          </p:cNvPr>
          <p:cNvSpPr/>
          <p:nvPr/>
        </p:nvSpPr>
        <p:spPr>
          <a:xfrm>
            <a:off x="1002419" y="2322368"/>
            <a:ext cx="1788078" cy="155200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tx1"/>
                </a:solidFill>
              </a:rPr>
              <a:t>Spacecraft</a:t>
            </a:r>
          </a:p>
          <a:p>
            <a:r>
              <a:rPr lang="en-US" sz="600">
                <a:solidFill>
                  <a:schemeClr val="tx1"/>
                </a:solidFill>
              </a:rPr>
              <a:t>Perform_</a:t>
            </a:r>
            <a:r>
              <a:rPr lang="en-US" sz="600" dirty="0">
                <a:solidFill>
                  <a:schemeClr val="tx1"/>
                </a:solidFill>
              </a:rPr>
              <a:t>Impulsive_burn()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Perform_Maneuver()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Perform_AttitudeChangeManeuver() 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Perform_ReactionWheelDesaturation():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Perform_Communications():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Perform_Downlink():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Perform_Crosslink():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Perform_CommandCancel():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Perform_StationKeeping():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Perform_SafeMode():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Perform_StartUp():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Perform_BuiltInTest():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0CCB9-68AE-E89F-8F40-BAB2F91588DF}"/>
              </a:ext>
            </a:extLst>
          </p:cNvPr>
          <p:cNvSpPr/>
          <p:nvPr/>
        </p:nvSpPr>
        <p:spPr>
          <a:xfrm>
            <a:off x="5435847" y="2091648"/>
            <a:ext cx="1645920" cy="999673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tx1"/>
                </a:solidFill>
              </a:rPr>
              <a:t>Planetary Body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4886BC-F11A-F2EE-8757-12E9D9504591}"/>
              </a:ext>
            </a:extLst>
          </p:cNvPr>
          <p:cNvSpPr/>
          <p:nvPr/>
        </p:nvSpPr>
        <p:spPr>
          <a:xfrm>
            <a:off x="2983619" y="2723074"/>
            <a:ext cx="1788078" cy="155200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tx1"/>
                </a:solidFill>
              </a:rPr>
              <a:t>Simulation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 Pause()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 Stop()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Perform_AttitudeChangeManeuver() 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Perform_ReactionWheelDesaturation():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Perform_Communications():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Perform_Downlink():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Perform_Crosslink():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Perform_CommandCancel():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Perform_StationKeeping():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Perform_SafeMode():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Perform_StartUp():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Perform_BuiltInTest():</a:t>
            </a:r>
          </a:p>
          <a:p>
            <a:r>
              <a:rPr lang="en-US" sz="6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95616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20244</TotalTime>
  <Words>777</Words>
  <Application>Microsoft Office PowerPoint</Application>
  <PresentationFormat>Widescreen</PresentationFormat>
  <Paragraphs>205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Yoder</dc:creator>
  <cp:lastModifiedBy>Brennan Yoder</cp:lastModifiedBy>
  <cp:revision>16</cp:revision>
  <dcterms:created xsi:type="dcterms:W3CDTF">2025-12-23T05:28:36Z</dcterms:created>
  <dcterms:modified xsi:type="dcterms:W3CDTF">2026-01-10T14:47:10Z</dcterms:modified>
</cp:coreProperties>
</file>