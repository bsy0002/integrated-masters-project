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6" autoAdjust="0"/>
    <p:restoredTop sz="94660"/>
  </p:normalViewPr>
  <p:slideViewPr>
    <p:cSldViewPr snapToGrid="0">
      <p:cViewPr>
        <p:scale>
          <a:sx n="91" d="100"/>
          <a:sy n="91" d="100"/>
        </p:scale>
        <p:origin x="447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AAB19-AC25-F91D-F3D3-42B279A5C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9836E0-35CF-4186-7C89-76F981A5E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3285B-A209-FC9B-7993-46A26C9B7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15712-9535-4045-B0C7-D22E271B741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63753-78A2-F69D-D6E9-A339107C5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7344D-CA37-FF84-885A-21FBB23EC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72CF6-01F4-45D2-937F-51AF152CC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56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3C88-2EF3-8F93-3EAD-EBA26C16B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1BACE-EB39-9EDA-283A-FE166A3EE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26A7A-7A41-045B-3CDD-1C2485C20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15712-9535-4045-B0C7-D22E271B741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2D5F6-6050-2BA6-4FF3-A4DA8B427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81165-CC01-2F77-F95F-D03BC5BE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72CF6-01F4-45D2-937F-51AF152CC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88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F17A8-8492-1393-D811-78AEB5CF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EF323-2CB0-B330-1EC0-EEBF96E98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A5F9E-7295-95F8-8BAA-2BE64A762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15712-9535-4045-B0C7-D22E271B741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5BB49-673F-E1A4-B930-F8584DD13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CE1E3-0F03-AFA6-ADA7-33410EFC0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72CF6-01F4-45D2-937F-51AF152CC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65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A8E0D-E98C-A25A-9220-922758F16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1C0D8-A798-C239-DE54-E39522AB48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EB6F9-416A-0279-81E7-80C1998B4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EAA21-3F35-F2A1-1732-4528066D7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15712-9535-4045-B0C7-D22E271B741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4FD86-3247-C888-09D0-AA7A0B7B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E1FBA-3BB7-007F-1F2E-E31E695F9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72CF6-01F4-45D2-937F-51AF152CC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2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A497-ADEE-83C0-368B-6CCEBEDF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BA077-863D-02AF-D87E-4EF12B1AA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110D9-71B7-73FF-4E0F-11EF5177D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7939D2-808A-0606-0840-06136A8B2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0BB433-E7BD-22A6-3FFE-2504C9D38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65F565-F6AD-3194-30D7-5A8CC09E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15712-9535-4045-B0C7-D22E271B741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90043A-394D-8F62-8A51-46D8E26B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D0AB99-EA3D-3637-DE7F-B478DE454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72CF6-01F4-45D2-937F-51AF152CC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330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11ABD-41B2-8E64-AFAD-7E3311729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D53C6-8846-4E5C-6356-83050ACA8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15712-9535-4045-B0C7-D22E271B741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E94E42-A579-3D03-4B0C-B6AEF8D7B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F4F696-C6BD-182B-1D6F-CA9B6135B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72CF6-01F4-45D2-937F-51AF152CC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74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EFD125-EBFE-5F45-CC2E-A67646572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15712-9535-4045-B0C7-D22E271B741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F9499-CB90-0263-5C0D-69F3BCA52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13048-F3B3-CE02-6A35-F0F7E592B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72CF6-01F4-45D2-937F-51AF152CC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0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73B30-FF8B-DC11-4847-FDA4DF891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AB4F0-F860-0EB7-B308-CB611BD6A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5361AE-354F-0A13-1005-BE197868F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B3B76-B9B4-3E62-8B60-92482594F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15712-9535-4045-B0C7-D22E271B741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3FF2C-45B7-26FB-B9F8-86C369F7E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8FECF-1A45-FFCA-1B48-2F915AA16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72CF6-01F4-45D2-937F-51AF152CC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45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31E3-5DC0-7DB9-B48A-CC99ED0B2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745068-29FF-CFB5-A109-20A135C235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2F14EA-898D-7322-B849-D1F53D51F5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CEF1B-9313-ADAB-8DE9-31E47514A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15712-9535-4045-B0C7-D22E271B741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A789B-DB2F-E724-3DD6-DE6366F6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A2A23-D99C-A717-7A0D-0C153B72E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72CF6-01F4-45D2-937F-51AF152CC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972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E6590-AD52-8D7D-88A8-8708B42F5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F387B-116F-DAE5-CA87-2A69FD582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8F72C-A6D7-7805-57E9-EF92959E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15712-9535-4045-B0C7-D22E271B741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C44B5-C1A8-E220-9E13-EFF867984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8939A-563B-9727-7CBF-15538B381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72CF6-01F4-45D2-937F-51AF152CC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02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E1F932-67E5-F81A-4538-7FD8FADD5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FE7D94-D017-BAA2-8A42-9AE22A0E7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B5990-34E6-31B3-70F9-8805FA0D7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15712-9535-4045-B0C7-D22E271B741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0CD16-1CBB-EE8C-BB68-ED995285A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9C7A8-3689-D296-75B3-6336A310D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72CF6-01F4-45D2-937F-51AF152CC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0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5586C7-6EB0-01D9-20EC-160F73793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AC106-63E6-43F3-F163-2F21CDCE2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D8CE6-631F-BBDA-8470-0552DB8DB7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415712-9535-4045-B0C7-D22E271B741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74DDD-372E-A9B7-F81B-20A77116B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BB62A-C76A-3B7D-3F86-89FB521BB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72CF6-01F4-45D2-937F-51AF152CC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708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0AB7B8-267C-2EA9-D64D-34990CA7CC99}"/>
              </a:ext>
            </a:extLst>
          </p:cNvPr>
          <p:cNvSpPr/>
          <p:nvPr/>
        </p:nvSpPr>
        <p:spPr>
          <a:xfrm>
            <a:off x="488784" y="90806"/>
            <a:ext cx="3966667" cy="27177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(Implementation)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627C39-CB20-FD04-6C21-BE890C91A948}"/>
              </a:ext>
            </a:extLst>
          </p:cNvPr>
          <p:cNvSpPr/>
          <p:nvPr/>
        </p:nvSpPr>
        <p:spPr>
          <a:xfrm>
            <a:off x="9919800" y="4801786"/>
            <a:ext cx="1188720" cy="1727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State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C5C24C-217B-6EA0-0C09-5CDE5BC56B1C}"/>
              </a:ext>
            </a:extLst>
          </p:cNvPr>
          <p:cNvSpPr/>
          <p:nvPr/>
        </p:nvSpPr>
        <p:spPr>
          <a:xfrm>
            <a:off x="9205913" y="4249603"/>
            <a:ext cx="1188720" cy="1727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Properties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FEA430-8758-7E2F-3865-AFBA8D0B334F}"/>
              </a:ext>
            </a:extLst>
          </p:cNvPr>
          <p:cNvSpPr/>
          <p:nvPr/>
        </p:nvSpPr>
        <p:spPr>
          <a:xfrm>
            <a:off x="9205913" y="4499848"/>
            <a:ext cx="1188720" cy="1727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Properties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BE307A-928C-C26E-D8E3-F16BB44F3117}"/>
              </a:ext>
            </a:extLst>
          </p:cNvPr>
          <p:cNvSpPr/>
          <p:nvPr/>
        </p:nvSpPr>
        <p:spPr>
          <a:xfrm>
            <a:off x="9116496" y="3913972"/>
            <a:ext cx="2834640" cy="16838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479C98-6C8F-53F6-CC27-A8A05E995A8F}"/>
              </a:ext>
            </a:extLst>
          </p:cNvPr>
          <p:cNvSpPr/>
          <p:nvPr/>
        </p:nvSpPr>
        <p:spPr>
          <a:xfrm>
            <a:off x="10705196" y="5104056"/>
            <a:ext cx="1188720" cy="1727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Keplerian State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C6F869-382F-C3CD-8B35-8E7425528C17}"/>
              </a:ext>
            </a:extLst>
          </p:cNvPr>
          <p:cNvSpPr/>
          <p:nvPr/>
        </p:nvSpPr>
        <p:spPr>
          <a:xfrm>
            <a:off x="10705196" y="5328906"/>
            <a:ext cx="1188720" cy="1727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Osculating State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EDC362-9400-E972-9DCD-327D058D5683}"/>
              </a:ext>
            </a:extLst>
          </p:cNvPr>
          <p:cNvCxnSpPr>
            <a:cxnSpLocks/>
            <a:stCxn id="21" idx="2"/>
            <a:endCxn id="29" idx="1"/>
          </p:cNvCxnSpPr>
          <p:nvPr/>
        </p:nvCxnSpPr>
        <p:spPr>
          <a:xfrm>
            <a:off x="10514160" y="4974519"/>
            <a:ext cx="191036" cy="215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13B138A-6336-A0A4-DF39-EFA2D1BCE044}"/>
              </a:ext>
            </a:extLst>
          </p:cNvPr>
          <p:cNvCxnSpPr>
            <a:cxnSpLocks/>
            <a:stCxn id="21" idx="2"/>
            <a:endCxn id="30" idx="1"/>
          </p:cNvCxnSpPr>
          <p:nvPr/>
        </p:nvCxnSpPr>
        <p:spPr>
          <a:xfrm>
            <a:off x="10514160" y="4974519"/>
            <a:ext cx="191036" cy="4407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28750FE-4D09-3E44-5B6C-254D9F1D6418}"/>
              </a:ext>
            </a:extLst>
          </p:cNvPr>
          <p:cNvCxnSpPr>
            <a:stCxn id="25" idx="2"/>
            <a:endCxn id="21" idx="1"/>
          </p:cNvCxnSpPr>
          <p:nvPr/>
        </p:nvCxnSpPr>
        <p:spPr>
          <a:xfrm>
            <a:off x="9800273" y="4672581"/>
            <a:ext cx="119527" cy="215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F9CF41E4-8168-F856-53DD-F73ABF8EF43C}"/>
              </a:ext>
            </a:extLst>
          </p:cNvPr>
          <p:cNvSpPr/>
          <p:nvPr/>
        </p:nvSpPr>
        <p:spPr>
          <a:xfrm>
            <a:off x="9116496" y="420231"/>
            <a:ext cx="2834640" cy="15128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 Model List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Point-mass (central body) gravity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Non-spherical gravity (J2 and higher harmonics)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Third-body gravity (Sun, Moon, planets)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Atmospheric drag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Solar radiation pressure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Eclipse / shadowing (for SRP)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Impulsive thrust (ΔV maneuvers)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Finite / continuous thrust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Relativistic correction (first-order)</a:t>
            </a: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C0CDA18-E999-4CF8-D3D4-AE8B187CF578}"/>
              </a:ext>
            </a:extLst>
          </p:cNvPr>
          <p:cNvSpPr/>
          <p:nvPr/>
        </p:nvSpPr>
        <p:spPr>
          <a:xfrm>
            <a:off x="9116496" y="2167102"/>
            <a:ext cx="2834640" cy="15128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Integrator List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Euler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Euler (Heun)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Midpoint</a:t>
            </a:r>
          </a:p>
          <a:p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Verlet</a:t>
            </a:r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Velocity </a:t>
            </a:r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Verlet</a:t>
            </a:r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Leapfrog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Runge–</a:t>
            </a:r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Kutta</a:t>
            </a:r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(RK2)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Runge–</a:t>
            </a:r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Kutta</a:t>
            </a:r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 (RK4)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Runge–</a:t>
            </a:r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Kutta</a:t>
            </a:r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–Fehlberg (RKF45)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Dormand–Prince (DOPRI5)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1C89EE1-0FBD-6813-2095-3EAAA3D60EB2}"/>
              </a:ext>
            </a:extLst>
          </p:cNvPr>
          <p:cNvSpPr/>
          <p:nvPr/>
        </p:nvSpPr>
        <p:spPr>
          <a:xfrm>
            <a:off x="5324406" y="918873"/>
            <a:ext cx="2899155" cy="3053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Propagator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390A255-F986-E754-140C-5A8C21EDF38E}"/>
              </a:ext>
            </a:extLst>
          </p:cNvPr>
          <p:cNvSpPr/>
          <p:nvPr/>
        </p:nvSpPr>
        <p:spPr>
          <a:xfrm>
            <a:off x="5461291" y="1222192"/>
            <a:ext cx="18288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Force Models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Computes all the applied forces at a specific time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98C96F6-FB5D-A050-71E7-C96DFA847347}"/>
              </a:ext>
            </a:extLst>
          </p:cNvPr>
          <p:cNvSpPr/>
          <p:nvPr/>
        </p:nvSpPr>
        <p:spPr>
          <a:xfrm>
            <a:off x="5461291" y="1722485"/>
            <a:ext cx="18288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Integrator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Advances the state in time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A4961F4-9BE1-CEA7-220C-C4375AB8E2FC}"/>
              </a:ext>
            </a:extLst>
          </p:cNvPr>
          <p:cNvCxnSpPr>
            <a:cxnSpLocks/>
            <a:stCxn id="52" idx="1"/>
            <a:endCxn id="56" idx="3"/>
          </p:cNvCxnSpPr>
          <p:nvPr/>
        </p:nvCxnSpPr>
        <p:spPr>
          <a:xfrm flipH="1">
            <a:off x="7290091" y="1176681"/>
            <a:ext cx="1826405" cy="274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C214C19-6F60-AF46-B029-C9FB44FF0FC4}"/>
              </a:ext>
            </a:extLst>
          </p:cNvPr>
          <p:cNvCxnSpPr>
            <a:cxnSpLocks/>
            <a:stCxn id="54" idx="1"/>
            <a:endCxn id="57" idx="3"/>
          </p:cNvCxnSpPr>
          <p:nvPr/>
        </p:nvCxnSpPr>
        <p:spPr>
          <a:xfrm flipH="1" flipV="1">
            <a:off x="7290091" y="1951085"/>
            <a:ext cx="1826405" cy="9724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942B7488-D3AB-DC48-3183-248A7EA8C5E8}"/>
              </a:ext>
            </a:extLst>
          </p:cNvPr>
          <p:cNvSpPr/>
          <p:nvPr/>
        </p:nvSpPr>
        <p:spPr>
          <a:xfrm>
            <a:off x="5461291" y="2222777"/>
            <a:ext cx="18288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 List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list of all of the bodies that are getting propagated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B58D949-CCC6-DCE1-7137-FD298D55D8CE}"/>
              </a:ext>
            </a:extLst>
          </p:cNvPr>
          <p:cNvCxnSpPr>
            <a:cxnSpLocks/>
            <a:stCxn id="27" idx="1"/>
            <a:endCxn id="68" idx="3"/>
          </p:cNvCxnSpPr>
          <p:nvPr/>
        </p:nvCxnSpPr>
        <p:spPr>
          <a:xfrm flipH="1" flipV="1">
            <a:off x="7290091" y="2451377"/>
            <a:ext cx="1826405" cy="2304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A474B951-DDBA-9EB2-BC57-8001ED604A6A}"/>
              </a:ext>
            </a:extLst>
          </p:cNvPr>
          <p:cNvSpPr/>
          <p:nvPr/>
        </p:nvSpPr>
        <p:spPr>
          <a:xfrm>
            <a:off x="5461291" y="2750627"/>
            <a:ext cx="18288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Module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UTC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step, tolerances, </a:t>
            </a:r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BF86AF3-2ACD-5384-C416-B7CC596F628C}"/>
              </a:ext>
            </a:extLst>
          </p:cNvPr>
          <p:cNvSpPr/>
          <p:nvPr/>
        </p:nvSpPr>
        <p:spPr>
          <a:xfrm>
            <a:off x="643317" y="420231"/>
            <a:ext cx="1828800" cy="2329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Propagator List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CBB7009-DB7F-B7A2-23BE-9E690E5B6CAE}"/>
              </a:ext>
            </a:extLst>
          </p:cNvPr>
          <p:cNvSpPr/>
          <p:nvPr/>
        </p:nvSpPr>
        <p:spPr>
          <a:xfrm>
            <a:off x="643317" y="685961"/>
            <a:ext cx="1828800" cy="2329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Visual Properties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F2BDB02-C73B-CB94-384D-8E18AFC7335B}"/>
              </a:ext>
            </a:extLst>
          </p:cNvPr>
          <p:cNvCxnSpPr>
            <a:cxnSpLocks/>
            <a:stCxn id="55" idx="1"/>
            <a:endCxn id="93" idx="3"/>
          </p:cNvCxnSpPr>
          <p:nvPr/>
        </p:nvCxnSpPr>
        <p:spPr>
          <a:xfrm flipH="1" flipV="1">
            <a:off x="2472117" y="536687"/>
            <a:ext cx="2852289" cy="1909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45ACF421-507B-551B-2C12-93C34C870103}"/>
              </a:ext>
            </a:extLst>
          </p:cNvPr>
          <p:cNvSpPr/>
          <p:nvPr/>
        </p:nvSpPr>
        <p:spPr>
          <a:xfrm>
            <a:off x="488784" y="3137938"/>
            <a:ext cx="2899155" cy="3430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Manager 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A7F7E6F-0C0E-46AD-D1A2-1F1A857C6641}"/>
              </a:ext>
            </a:extLst>
          </p:cNvPr>
          <p:cNvSpPr/>
          <p:nvPr/>
        </p:nvSpPr>
        <p:spPr>
          <a:xfrm>
            <a:off x="488784" y="3629623"/>
            <a:ext cx="2899155" cy="343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 and Data Manager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C90508D-A3A1-466A-3861-8D6BFEFF7916}"/>
              </a:ext>
            </a:extLst>
          </p:cNvPr>
          <p:cNvSpPr/>
          <p:nvPr/>
        </p:nvSpPr>
        <p:spPr>
          <a:xfrm>
            <a:off x="488784" y="4121307"/>
            <a:ext cx="2899155" cy="343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Module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B5EC2CF-65DD-79FE-2489-BC7E47C9447D}"/>
              </a:ext>
            </a:extLst>
          </p:cNvPr>
          <p:cNvSpPr/>
          <p:nvPr/>
        </p:nvSpPr>
        <p:spPr>
          <a:xfrm>
            <a:off x="488784" y="4612991"/>
            <a:ext cx="2899155" cy="343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Collision Module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D5D063C-4CC2-AA32-D1FA-E0908EEED5C8}"/>
              </a:ext>
            </a:extLst>
          </p:cNvPr>
          <p:cNvSpPr/>
          <p:nvPr/>
        </p:nvSpPr>
        <p:spPr>
          <a:xfrm>
            <a:off x="488784" y="5104675"/>
            <a:ext cx="2899155" cy="343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 Module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F02B69C-3BAE-A0DA-8874-276EC1943A21}"/>
              </a:ext>
            </a:extLst>
          </p:cNvPr>
          <p:cNvSpPr/>
          <p:nvPr/>
        </p:nvSpPr>
        <p:spPr>
          <a:xfrm>
            <a:off x="488784" y="5596360"/>
            <a:ext cx="2899155" cy="343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Attitude Dynamics Module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4AB622B-2BF9-9B48-A780-E16A5A3BCC09}"/>
              </a:ext>
            </a:extLst>
          </p:cNvPr>
          <p:cNvSpPr/>
          <p:nvPr/>
        </p:nvSpPr>
        <p:spPr>
          <a:xfrm>
            <a:off x="5461291" y="3305738"/>
            <a:ext cx="18288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Frame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ECI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2675493-C622-CE95-64F0-2E171A2072B2}"/>
              </a:ext>
            </a:extLst>
          </p:cNvPr>
          <p:cNvSpPr/>
          <p:nvPr/>
        </p:nvSpPr>
        <p:spPr>
          <a:xfrm>
            <a:off x="9116496" y="5775967"/>
            <a:ext cx="2834640" cy="4359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Frame Module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change reference frames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433AE0D8-2E5B-7D03-F4A6-445F493F5967}"/>
              </a:ext>
            </a:extLst>
          </p:cNvPr>
          <p:cNvCxnSpPr>
            <a:cxnSpLocks/>
            <a:stCxn id="108" idx="1"/>
            <a:endCxn id="107" idx="3"/>
          </p:cNvCxnSpPr>
          <p:nvPr/>
        </p:nvCxnSpPr>
        <p:spPr>
          <a:xfrm flipH="1" flipV="1">
            <a:off x="7290091" y="3534338"/>
            <a:ext cx="1826405" cy="2459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678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37C19B-0D42-2C9C-C8FD-D89DE63D00A3}"/>
              </a:ext>
            </a:extLst>
          </p:cNvPr>
          <p:cNvSpPr/>
          <p:nvPr/>
        </p:nvSpPr>
        <p:spPr>
          <a:xfrm>
            <a:off x="5461291" y="1222192"/>
            <a:ext cx="18288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Object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74CA1B-8859-06D1-341D-AB77AD3C1F76}"/>
              </a:ext>
            </a:extLst>
          </p:cNvPr>
          <p:cNvSpPr/>
          <p:nvPr/>
        </p:nvSpPr>
        <p:spPr>
          <a:xfrm>
            <a:off x="4724412" y="2133243"/>
            <a:ext cx="1828800" cy="685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Celestial Object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Properties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Properties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Properties</a:t>
            </a:r>
          </a:p>
          <a:p>
            <a:endParaRPr lang="en-US" sz="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373A42-23E8-4D1B-598E-55E6428F5BC2}"/>
              </a:ext>
            </a:extLst>
          </p:cNvPr>
          <p:cNvSpPr/>
          <p:nvPr/>
        </p:nvSpPr>
        <p:spPr>
          <a:xfrm>
            <a:off x="3630817" y="3700306"/>
            <a:ext cx="1828800" cy="8114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Space Vehicle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791676-FE42-0DBE-0F9B-1479FD24D0D1}"/>
              </a:ext>
            </a:extLst>
          </p:cNvPr>
          <p:cNvSpPr/>
          <p:nvPr/>
        </p:nvSpPr>
        <p:spPr>
          <a:xfrm>
            <a:off x="808903" y="1720780"/>
            <a:ext cx="1828800" cy="15901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Properties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velocity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acceleration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positionHistory</a:t>
            </a:r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velocityHistory</a:t>
            </a:r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accelerationHistory</a:t>
            </a:r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stateHistory</a:t>
            </a:r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*attitude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7103A5-397D-BCD2-7EE2-651ACC0C5ABB}"/>
              </a:ext>
            </a:extLst>
          </p:cNvPr>
          <p:cNvSpPr/>
          <p:nvPr/>
        </p:nvSpPr>
        <p:spPr>
          <a:xfrm>
            <a:off x="8160948" y="3787392"/>
            <a:ext cx="18288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</a:t>
            </a: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1D3E16-BDDD-BC13-3823-6DB59F76B616}"/>
              </a:ext>
            </a:extLst>
          </p:cNvPr>
          <p:cNvSpPr/>
          <p:nvPr/>
        </p:nvSpPr>
        <p:spPr>
          <a:xfrm>
            <a:off x="6266834" y="3787392"/>
            <a:ext cx="18288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Planet</a:t>
            </a: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429792-9729-2CE4-43F2-9358F7342297}"/>
              </a:ext>
            </a:extLst>
          </p:cNvPr>
          <p:cNvSpPr/>
          <p:nvPr/>
        </p:nvSpPr>
        <p:spPr>
          <a:xfrm>
            <a:off x="808903" y="3961562"/>
            <a:ext cx="18288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Properties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*colors</a:t>
            </a: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3D3E45-1A5A-1E17-AB13-870AE94AD7C8}"/>
              </a:ext>
            </a:extLst>
          </p:cNvPr>
          <p:cNvSpPr/>
          <p:nvPr/>
        </p:nvSpPr>
        <p:spPr>
          <a:xfrm>
            <a:off x="808903" y="4468166"/>
            <a:ext cx="1828800" cy="14151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Properties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j2</a:t>
            </a: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82010A-8928-C1FA-52E5-B1920C22890E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flipH="1">
            <a:off x="5638812" y="1679392"/>
            <a:ext cx="736879" cy="4538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D12E18-0011-6B86-AB95-E2A14A620B05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5638812" y="2818563"/>
            <a:ext cx="1542422" cy="968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1F0D03A-1EC5-0467-FD4A-71649F092306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5638812" y="2818563"/>
            <a:ext cx="3436536" cy="968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3D9976F-4E1C-1D38-4962-98C690B9380B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4545217" y="2818563"/>
            <a:ext cx="1093595" cy="881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AA3878F-8584-DA44-A8E6-260D4E2C0532}"/>
              </a:ext>
            </a:extLst>
          </p:cNvPr>
          <p:cNvSpPr/>
          <p:nvPr/>
        </p:nvSpPr>
        <p:spPr>
          <a:xfrm>
            <a:off x="8160948" y="1492180"/>
            <a:ext cx="18288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Object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AD3E8E-CF61-7E0E-22E8-75162818BF38}"/>
              </a:ext>
            </a:extLst>
          </p:cNvPr>
          <p:cNvSpPr/>
          <p:nvPr/>
        </p:nvSpPr>
        <p:spPr>
          <a:xfrm>
            <a:off x="8160948" y="2046933"/>
            <a:ext cx="18288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Object</a:t>
            </a:r>
          </a:p>
        </p:txBody>
      </p:sp>
    </p:spTree>
    <p:extLst>
      <p:ext uri="{BB962C8B-B14F-4D97-AF65-F5344CB8AC3E}">
        <p14:creationId xmlns:p14="http://schemas.microsoft.com/office/powerpoint/2010/main" val="2688510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7D4215-9D47-D6DB-9F03-058740B4068B}"/>
              </a:ext>
            </a:extLst>
          </p:cNvPr>
          <p:cNvSpPr/>
          <p:nvPr/>
        </p:nvSpPr>
        <p:spPr>
          <a:xfrm>
            <a:off x="1421842" y="590340"/>
            <a:ext cx="4074606" cy="15600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AF9A04-6EB8-9418-17D1-2A0F5DA05211}"/>
              </a:ext>
            </a:extLst>
          </p:cNvPr>
          <p:cNvSpPr/>
          <p:nvPr/>
        </p:nvSpPr>
        <p:spPr>
          <a:xfrm>
            <a:off x="3202911" y="1038746"/>
            <a:ext cx="1828800" cy="8867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Scheme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A68432-0E3F-0BD8-F04C-9F79241FF010}"/>
              </a:ext>
            </a:extLst>
          </p:cNvPr>
          <p:cNvSpPr/>
          <p:nvPr/>
        </p:nvSpPr>
        <p:spPr>
          <a:xfrm>
            <a:off x="6096000" y="850758"/>
            <a:ext cx="1828800" cy="3759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 Scheme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AEB301-882F-71EE-0943-C8315E161D9D}"/>
              </a:ext>
            </a:extLst>
          </p:cNvPr>
          <p:cNvSpPr/>
          <p:nvPr/>
        </p:nvSpPr>
        <p:spPr>
          <a:xfrm>
            <a:off x="5969565" y="1737525"/>
            <a:ext cx="2103120" cy="731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C71D7A-3457-5C38-D9EA-41AD8BD16849}"/>
              </a:ext>
            </a:extLst>
          </p:cNvPr>
          <p:cNvSpPr/>
          <p:nvPr/>
        </p:nvSpPr>
        <p:spPr>
          <a:xfrm>
            <a:off x="5969565" y="595363"/>
            <a:ext cx="2103120" cy="731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067C59-2B59-207F-6CCB-73BFBAE83F37}"/>
              </a:ext>
            </a:extLst>
          </p:cNvPr>
          <p:cNvSpPr/>
          <p:nvPr/>
        </p:nvSpPr>
        <p:spPr>
          <a:xfrm>
            <a:off x="1534061" y="1038747"/>
            <a:ext cx="1204115" cy="258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Scheme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E52C8-E6A5-4C3D-5CB3-E51A04195D30}"/>
              </a:ext>
            </a:extLst>
          </p:cNvPr>
          <p:cNvSpPr/>
          <p:nvPr/>
        </p:nvSpPr>
        <p:spPr>
          <a:xfrm>
            <a:off x="1534061" y="1352757"/>
            <a:ext cx="1204115" cy="258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Dark Scheme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C52766-B5EF-BD6D-77D7-3B093CCE3782}"/>
              </a:ext>
            </a:extLst>
          </p:cNvPr>
          <p:cNvSpPr/>
          <p:nvPr/>
        </p:nvSpPr>
        <p:spPr>
          <a:xfrm>
            <a:off x="1534060" y="1666767"/>
            <a:ext cx="1204115" cy="258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 Scheme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25828A6-C644-2B75-8484-C9DB3F85705D}"/>
              </a:ext>
            </a:extLst>
          </p:cNvPr>
          <p:cNvCxnSpPr>
            <a:stCxn id="8" idx="3"/>
            <a:endCxn id="3" idx="1"/>
          </p:cNvCxnSpPr>
          <p:nvPr/>
        </p:nvCxnSpPr>
        <p:spPr>
          <a:xfrm flipV="1">
            <a:off x="2738176" y="1482129"/>
            <a:ext cx="46473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57991A1-2F7A-EF2F-C7B1-E26C523F0575}"/>
              </a:ext>
            </a:extLst>
          </p:cNvPr>
          <p:cNvCxnSpPr>
            <a:stCxn id="7" idx="3"/>
            <a:endCxn id="3" idx="1"/>
          </p:cNvCxnSpPr>
          <p:nvPr/>
        </p:nvCxnSpPr>
        <p:spPr>
          <a:xfrm>
            <a:off x="2738176" y="1168120"/>
            <a:ext cx="464735" cy="314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9BD8F91-8BA5-98C1-9DC1-5CD399C034FB}"/>
              </a:ext>
            </a:extLst>
          </p:cNvPr>
          <p:cNvCxnSpPr>
            <a:stCxn id="9" idx="3"/>
            <a:endCxn id="3" idx="1"/>
          </p:cNvCxnSpPr>
          <p:nvPr/>
        </p:nvCxnSpPr>
        <p:spPr>
          <a:xfrm flipV="1">
            <a:off x="2738175" y="1482129"/>
            <a:ext cx="464736" cy="314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C62DC96-DAD3-50DA-5260-9405D400F4FC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5031711" y="1482129"/>
            <a:ext cx="937854" cy="621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E293CB7-54A6-4E42-6B1E-30775547DD9D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 flipV="1">
            <a:off x="5031711" y="961123"/>
            <a:ext cx="937854" cy="5210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F4C453A-F855-2870-F4F9-9946D04D4E9C}"/>
              </a:ext>
            </a:extLst>
          </p:cNvPr>
          <p:cNvSpPr/>
          <p:nvPr/>
        </p:nvSpPr>
        <p:spPr>
          <a:xfrm>
            <a:off x="5746832" y="252627"/>
            <a:ext cx="2776681" cy="3176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6F2E17-3BAE-C7CA-437E-F5B38A753F56}"/>
              </a:ext>
            </a:extLst>
          </p:cNvPr>
          <p:cNvSpPr/>
          <p:nvPr/>
        </p:nvSpPr>
        <p:spPr>
          <a:xfrm>
            <a:off x="6096000" y="1962359"/>
            <a:ext cx="1828800" cy="3759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Scheme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8B35C6-1024-1F72-8515-BEBB7F0BF5C0}"/>
              </a:ext>
            </a:extLst>
          </p:cNvPr>
          <p:cNvSpPr/>
          <p:nvPr/>
        </p:nvSpPr>
        <p:spPr>
          <a:xfrm>
            <a:off x="6106725" y="2818143"/>
            <a:ext cx="1828800" cy="3759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Scheme</a:t>
            </a:r>
          </a:p>
        </p:txBody>
      </p:sp>
    </p:spTree>
    <p:extLst>
      <p:ext uri="{BB962C8B-B14F-4D97-AF65-F5344CB8AC3E}">
        <p14:creationId xmlns:p14="http://schemas.microsoft.com/office/powerpoint/2010/main" val="1032882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BD7249-ACFB-80E1-FFC4-E3EA084196CF}"/>
              </a:ext>
            </a:extLst>
          </p:cNvPr>
          <p:cNvSpPr/>
          <p:nvPr/>
        </p:nvSpPr>
        <p:spPr>
          <a:xfrm>
            <a:off x="0" y="0"/>
            <a:ext cx="1828800" cy="3202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Body Example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Earth – Moon - SV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B5B053-7CDC-0734-31A7-8F63ACD5DB3B}"/>
              </a:ext>
            </a:extLst>
          </p:cNvPr>
          <p:cNvSpPr/>
          <p:nvPr/>
        </p:nvSpPr>
        <p:spPr>
          <a:xfrm>
            <a:off x="2232408" y="1513948"/>
            <a:ext cx="1828800" cy="4705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Earth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in ECI frame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Propagation Needed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73BF44-931B-B4E2-48C3-C9C470DD0E18}"/>
              </a:ext>
            </a:extLst>
          </p:cNvPr>
          <p:cNvSpPr/>
          <p:nvPr/>
        </p:nvSpPr>
        <p:spPr>
          <a:xfrm>
            <a:off x="5311390" y="1513948"/>
            <a:ext cx="1828800" cy="4705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Body Propagation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7436E3-353A-6D4F-CF32-A7EA6EBC7371}"/>
              </a:ext>
            </a:extLst>
          </p:cNvPr>
          <p:cNvSpPr/>
          <p:nvPr/>
        </p:nvSpPr>
        <p:spPr>
          <a:xfrm>
            <a:off x="8857621" y="1513948"/>
            <a:ext cx="1828800" cy="4705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N-Body Propagation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9C4EBD-5BA7-367F-AC7C-69820F718637}"/>
              </a:ext>
            </a:extLst>
          </p:cNvPr>
          <p:cNvSpPr/>
          <p:nvPr/>
        </p:nvSpPr>
        <p:spPr>
          <a:xfrm>
            <a:off x="211016" y="545540"/>
            <a:ext cx="839037" cy="5999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Element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t0</a:t>
            </a:r>
          </a:p>
          <a:p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5180C8B-A8D9-9DB2-9264-DCD2F035335D}"/>
              </a:ext>
            </a:extLst>
          </p:cNvPr>
          <p:cNvSpPr/>
          <p:nvPr/>
        </p:nvSpPr>
        <p:spPr>
          <a:xfrm>
            <a:off x="1371600" y="617550"/>
            <a:ext cx="4572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BF8888-B0B9-C51B-4201-78359D99BAE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7140190" y="1749247"/>
            <a:ext cx="17174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6D2F0FB-25E5-2F84-F8A6-EC3B364DE2B9}"/>
              </a:ext>
            </a:extLst>
          </p:cNvPr>
          <p:cNvSpPr/>
          <p:nvPr/>
        </p:nvSpPr>
        <p:spPr>
          <a:xfrm>
            <a:off x="7558033" y="1844080"/>
            <a:ext cx="881744" cy="280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 State (t0)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658CD1-F4D2-AD6C-2E42-3D903625E139}"/>
              </a:ext>
            </a:extLst>
          </p:cNvPr>
          <p:cNvCxnSpPr>
            <a:cxnSpLocks/>
            <a:stCxn id="7" idx="3"/>
            <a:endCxn id="11" idx="2"/>
          </p:cNvCxnSpPr>
          <p:nvPr/>
        </p:nvCxnSpPr>
        <p:spPr>
          <a:xfrm>
            <a:off x="1050053" y="845527"/>
            <a:ext cx="321547" cy="6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CB743C6-C93C-6BED-4357-42760A3F56EF}"/>
              </a:ext>
            </a:extLst>
          </p:cNvPr>
          <p:cNvSpPr/>
          <p:nvPr/>
        </p:nvSpPr>
        <p:spPr>
          <a:xfrm>
            <a:off x="2232408" y="3395506"/>
            <a:ext cx="1828800" cy="4705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Earth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in ECI frame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Propagation Needed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C40E69-82A4-B385-8A63-7624BF49F374}"/>
              </a:ext>
            </a:extLst>
          </p:cNvPr>
          <p:cNvSpPr/>
          <p:nvPr/>
        </p:nvSpPr>
        <p:spPr>
          <a:xfrm>
            <a:off x="5311390" y="3395506"/>
            <a:ext cx="1828800" cy="4705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Body Propagation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61B3D45-967A-2DFF-6472-507DD60D4B39}"/>
              </a:ext>
            </a:extLst>
          </p:cNvPr>
          <p:cNvSpPr/>
          <p:nvPr/>
        </p:nvSpPr>
        <p:spPr>
          <a:xfrm>
            <a:off x="8857621" y="3395506"/>
            <a:ext cx="1828800" cy="4705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N-Body Propagation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F78513B-5AF4-491B-09C6-B71F723F31B4}"/>
              </a:ext>
            </a:extLst>
          </p:cNvPr>
          <p:cNvCxnSpPr>
            <a:cxnSpLocks/>
            <a:stCxn id="4" idx="2"/>
            <a:endCxn id="32" idx="0"/>
          </p:cNvCxnSpPr>
          <p:nvPr/>
        </p:nvCxnSpPr>
        <p:spPr>
          <a:xfrm>
            <a:off x="6225790" y="1984545"/>
            <a:ext cx="0" cy="1410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F1870D56-F7D1-9315-F6F5-862A03FC5652}"/>
              </a:ext>
            </a:extLst>
          </p:cNvPr>
          <p:cNvCxnSpPr>
            <a:stCxn id="11" idx="6"/>
            <a:endCxn id="3" idx="0"/>
          </p:cNvCxnSpPr>
          <p:nvPr/>
        </p:nvCxnSpPr>
        <p:spPr>
          <a:xfrm>
            <a:off x="1828800" y="846150"/>
            <a:ext cx="1318008" cy="6677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E93F29C6-B92B-03D9-DEAB-C73B9EA48FDB}"/>
              </a:ext>
            </a:extLst>
          </p:cNvPr>
          <p:cNvCxnSpPr>
            <a:stCxn id="11" idx="6"/>
            <a:endCxn id="4" idx="0"/>
          </p:cNvCxnSpPr>
          <p:nvPr/>
        </p:nvCxnSpPr>
        <p:spPr>
          <a:xfrm>
            <a:off x="1828800" y="846150"/>
            <a:ext cx="4396990" cy="6677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87B90866-C016-3A51-FA7F-7AC5FEC14DCD}"/>
              </a:ext>
            </a:extLst>
          </p:cNvPr>
          <p:cNvCxnSpPr>
            <a:stCxn id="11" idx="6"/>
            <a:endCxn id="5" idx="0"/>
          </p:cNvCxnSpPr>
          <p:nvPr/>
        </p:nvCxnSpPr>
        <p:spPr>
          <a:xfrm>
            <a:off x="1828800" y="846150"/>
            <a:ext cx="7943221" cy="6677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0EBB4F71-8892-2A18-2727-4B2870BD9183}"/>
              </a:ext>
            </a:extLst>
          </p:cNvPr>
          <p:cNvSpPr/>
          <p:nvPr/>
        </p:nvSpPr>
        <p:spPr>
          <a:xfrm>
            <a:off x="1468734" y="2628482"/>
            <a:ext cx="4572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t0</a:t>
            </a:r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175A6981-CD24-4236-5A33-AB54CB7B2CA7}"/>
              </a:ext>
            </a:extLst>
          </p:cNvPr>
          <p:cNvCxnSpPr>
            <a:cxnSpLocks/>
            <a:stCxn id="7" idx="3"/>
            <a:endCxn id="64" idx="2"/>
          </p:cNvCxnSpPr>
          <p:nvPr/>
        </p:nvCxnSpPr>
        <p:spPr>
          <a:xfrm>
            <a:off x="1050053" y="845527"/>
            <a:ext cx="418681" cy="20115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88244D00-9C46-C42A-85AD-FD27AF2EB588}"/>
              </a:ext>
            </a:extLst>
          </p:cNvPr>
          <p:cNvCxnSpPr>
            <a:cxnSpLocks/>
            <a:stCxn id="64" idx="6"/>
            <a:endCxn id="31" idx="0"/>
          </p:cNvCxnSpPr>
          <p:nvPr/>
        </p:nvCxnSpPr>
        <p:spPr>
          <a:xfrm>
            <a:off x="1925934" y="2857082"/>
            <a:ext cx="1220874" cy="5384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00A17B7F-8938-4AF3-3DDB-6876E3771ABE}"/>
              </a:ext>
            </a:extLst>
          </p:cNvPr>
          <p:cNvCxnSpPr>
            <a:cxnSpLocks/>
            <a:stCxn id="64" idx="6"/>
            <a:endCxn id="32" idx="0"/>
          </p:cNvCxnSpPr>
          <p:nvPr/>
        </p:nvCxnSpPr>
        <p:spPr>
          <a:xfrm>
            <a:off x="1925934" y="2857082"/>
            <a:ext cx="4299856" cy="5384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D1CD8B59-9EAB-0AED-DBED-4C518ECBA5A7}"/>
              </a:ext>
            </a:extLst>
          </p:cNvPr>
          <p:cNvCxnSpPr>
            <a:cxnSpLocks/>
            <a:stCxn id="64" idx="6"/>
            <a:endCxn id="33" idx="0"/>
          </p:cNvCxnSpPr>
          <p:nvPr/>
        </p:nvCxnSpPr>
        <p:spPr>
          <a:xfrm>
            <a:off x="1925934" y="2857082"/>
            <a:ext cx="7846087" cy="5384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25AE3BF-3DBC-E880-99FF-0636DE9602C5}"/>
              </a:ext>
            </a:extLst>
          </p:cNvPr>
          <p:cNvCxnSpPr>
            <a:cxnSpLocks/>
            <a:stCxn id="5" idx="2"/>
            <a:endCxn id="33" idx="0"/>
          </p:cNvCxnSpPr>
          <p:nvPr/>
        </p:nvCxnSpPr>
        <p:spPr>
          <a:xfrm>
            <a:off x="9772021" y="1984545"/>
            <a:ext cx="0" cy="1410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0558109-76AB-BB95-80C1-71772D5178FE}"/>
              </a:ext>
            </a:extLst>
          </p:cNvPr>
          <p:cNvCxnSpPr>
            <a:cxnSpLocks/>
            <a:stCxn id="3" idx="2"/>
            <a:endCxn id="31" idx="0"/>
          </p:cNvCxnSpPr>
          <p:nvPr/>
        </p:nvCxnSpPr>
        <p:spPr>
          <a:xfrm>
            <a:off x="3146808" y="1984545"/>
            <a:ext cx="0" cy="1410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C43113BC-932E-4CD9-7A76-9E73D9F4B18F}"/>
              </a:ext>
            </a:extLst>
          </p:cNvPr>
          <p:cNvSpPr/>
          <p:nvPr/>
        </p:nvSpPr>
        <p:spPr>
          <a:xfrm>
            <a:off x="9912697" y="2350581"/>
            <a:ext cx="881744" cy="280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 State (t0)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58260E4-F794-C64F-7AC5-851613E2C41B}"/>
              </a:ext>
            </a:extLst>
          </p:cNvPr>
          <p:cNvSpPr/>
          <p:nvPr/>
        </p:nvSpPr>
        <p:spPr>
          <a:xfrm>
            <a:off x="6366466" y="2350581"/>
            <a:ext cx="881744" cy="280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 State (t0)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8E59AC2-7BF9-2418-C1CC-258919DCF887}"/>
              </a:ext>
            </a:extLst>
          </p:cNvPr>
          <p:cNvSpPr/>
          <p:nvPr/>
        </p:nvSpPr>
        <p:spPr>
          <a:xfrm>
            <a:off x="3287484" y="2350581"/>
            <a:ext cx="881744" cy="280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Earth State (t0)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954B215-3940-35CE-D9D0-F0EA9DDD90F9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>
            <a:off x="7140190" y="3630805"/>
            <a:ext cx="17174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E7F54B7C-D541-6F20-205D-A9EA2262F22A}"/>
              </a:ext>
            </a:extLst>
          </p:cNvPr>
          <p:cNvSpPr/>
          <p:nvPr/>
        </p:nvSpPr>
        <p:spPr>
          <a:xfrm>
            <a:off x="7502349" y="3255041"/>
            <a:ext cx="881744" cy="280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 State (t1)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15A268B-6F9F-A9DA-BF54-D554A5F938B6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9772021" y="3866103"/>
            <a:ext cx="0" cy="940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726DF94-FDE4-E22B-BAC9-684FCBFB4696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6225790" y="3866103"/>
            <a:ext cx="0" cy="8725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4B3BC862-EDF2-B543-FEDB-E48532F108CF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3146808" y="3866103"/>
            <a:ext cx="0" cy="940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2E7DCC60-CF88-3BC1-0ED7-8021D41C762A}"/>
              </a:ext>
            </a:extLst>
          </p:cNvPr>
          <p:cNvSpPr/>
          <p:nvPr/>
        </p:nvSpPr>
        <p:spPr>
          <a:xfrm>
            <a:off x="9912697" y="4164312"/>
            <a:ext cx="881744" cy="280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 State (t1)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0DCAC39-D0B7-02D8-5C34-54BD651A4F88}"/>
              </a:ext>
            </a:extLst>
          </p:cNvPr>
          <p:cNvSpPr/>
          <p:nvPr/>
        </p:nvSpPr>
        <p:spPr>
          <a:xfrm>
            <a:off x="6366466" y="4164312"/>
            <a:ext cx="881744" cy="280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 State (t1)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E417993-45F5-E0CE-8A35-99A8CF1BF17F}"/>
              </a:ext>
            </a:extLst>
          </p:cNvPr>
          <p:cNvSpPr/>
          <p:nvPr/>
        </p:nvSpPr>
        <p:spPr>
          <a:xfrm>
            <a:off x="3287484" y="4164312"/>
            <a:ext cx="881744" cy="280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Earth State (t1)</a:t>
            </a:r>
          </a:p>
        </p:txBody>
      </p:sp>
    </p:spTree>
    <p:extLst>
      <p:ext uri="{BB962C8B-B14F-4D97-AF65-F5344CB8AC3E}">
        <p14:creationId xmlns:p14="http://schemas.microsoft.com/office/powerpoint/2010/main" val="1634378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D7FC20-7498-07D5-AE13-0C7ECB58EB4F}"/>
              </a:ext>
            </a:extLst>
          </p:cNvPr>
          <p:cNvSpPr/>
          <p:nvPr/>
        </p:nvSpPr>
        <p:spPr>
          <a:xfrm>
            <a:off x="2351099" y="162098"/>
            <a:ext cx="1920240" cy="17373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 1</a:t>
            </a:r>
          </a:p>
          <a:p>
            <a:endParaRPr lang="en-US" sz="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Properties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stateCurrent</a:t>
            </a:r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stateHistory</a:t>
            </a:r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Properties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j2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Propagation Properties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forceModel</a:t>
            </a:r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dynamics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integratorType</a:t>
            </a:r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relTol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absTol</a:t>
            </a:r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C4C63E-E404-43A2-F38A-84FC38311874}"/>
              </a:ext>
            </a:extLst>
          </p:cNvPr>
          <p:cNvSpPr/>
          <p:nvPr/>
        </p:nvSpPr>
        <p:spPr>
          <a:xfrm>
            <a:off x="7021718" y="2494037"/>
            <a:ext cx="4099729" cy="17592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Propagator</a:t>
            </a:r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time in </a:t>
            </a:r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TimeVector</a:t>
            </a:r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for each body in </a:t>
            </a:r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bodyList</a:t>
            </a:r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State = </a:t>
            </a:r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Integrator.step</a:t>
            </a:r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deriv_func</a:t>
            </a:r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Dynamics, 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state = State, 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time = time, 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dt = </a:t>
            </a:r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TimeElement.timeStep</a:t>
            </a:r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state_history</a:t>
            </a:r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np.vstack</a:t>
            </a:r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state_history</a:t>
            </a:r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State))</a:t>
            </a: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F77BC4-9D81-A369-0895-C3D10B8A550A}"/>
              </a:ext>
            </a:extLst>
          </p:cNvPr>
          <p:cNvSpPr/>
          <p:nvPr/>
        </p:nvSpPr>
        <p:spPr>
          <a:xfrm>
            <a:off x="2351099" y="2505006"/>
            <a:ext cx="1920240" cy="17373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 2</a:t>
            </a:r>
          </a:p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Properties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stateCurrent</a:t>
            </a:r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stateHistory</a:t>
            </a:r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Properties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j2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</a:p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Propagation Properties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forceModel</a:t>
            </a:r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dynamics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integratorType</a:t>
            </a:r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relTol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absTol</a:t>
            </a:r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EBD86C-99CB-2A95-BAE1-207B1ECCDF13}"/>
              </a:ext>
            </a:extLst>
          </p:cNvPr>
          <p:cNvSpPr/>
          <p:nvPr/>
        </p:nvSpPr>
        <p:spPr>
          <a:xfrm>
            <a:off x="2351099" y="4939785"/>
            <a:ext cx="1920240" cy="17373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 3</a:t>
            </a:r>
          </a:p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Properties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stateCurrent</a:t>
            </a:r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stateHistory</a:t>
            </a:r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Properties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j2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</a:p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Propagation Properties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forceModel</a:t>
            </a:r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dynamics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integratorType</a:t>
            </a:r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relTol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absTol</a:t>
            </a:r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BCD5E2-3D1F-B691-AA6E-9045F5610737}"/>
              </a:ext>
            </a:extLst>
          </p:cNvPr>
          <p:cNvSpPr/>
          <p:nvPr/>
        </p:nvSpPr>
        <p:spPr>
          <a:xfrm>
            <a:off x="8157182" y="586796"/>
            <a:ext cx="1828800" cy="1027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Element</a:t>
            </a:r>
          </a:p>
          <a:p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timeFrame</a:t>
            </a:r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currentTime</a:t>
            </a:r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startTime</a:t>
            </a:r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endTime</a:t>
            </a:r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</a:p>
          <a:p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timeHistory</a:t>
            </a:r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91D7BA-9E6B-447F-F89F-9C3173A286D8}"/>
              </a:ext>
            </a:extLst>
          </p:cNvPr>
          <p:cNvSpPr/>
          <p:nvPr/>
        </p:nvSpPr>
        <p:spPr>
          <a:xfrm>
            <a:off x="3254287" y="162098"/>
            <a:ext cx="1920240" cy="17373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Earth</a:t>
            </a:r>
          </a:p>
          <a:p>
            <a:endParaRPr lang="en-US" sz="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Properties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stateCurrent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[0,0,0,0,0,0]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stateHistory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[0,0,0,0,0,0]</a:t>
            </a: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Properties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 = mass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 = mu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j2 = j2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radius = radius</a:t>
            </a: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Propagation Properties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forceModel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Fixed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dynamics = </a:t>
            </a:r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forceModel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integratorType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RK4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relTol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1E-12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absTol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1E-12</a:t>
            </a: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340851-E874-6B94-9153-C9DDA2894EB9}"/>
              </a:ext>
            </a:extLst>
          </p:cNvPr>
          <p:cNvSpPr/>
          <p:nvPr/>
        </p:nvSpPr>
        <p:spPr>
          <a:xfrm>
            <a:off x="3254287" y="2505006"/>
            <a:ext cx="1920240" cy="17373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</a:t>
            </a:r>
          </a:p>
          <a:p>
            <a:endParaRPr lang="en-US" sz="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Properties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stateCurrent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[rMoon,0,0,vMoon,0,0]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stateHistory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[rMoon,0,0,vMoon,0,0]</a:t>
            </a: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Properties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 = mass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 = mu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j2 = j2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radius = radius</a:t>
            </a: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Propagation Properties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forceModel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EarthPointMass</a:t>
            </a:r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dynamics = </a:t>
            </a:r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forceModel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integratorType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RK4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relTol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1E-12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absTol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1E-12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55FABE-60CC-3EBD-5991-E34898FA4D46}"/>
              </a:ext>
            </a:extLst>
          </p:cNvPr>
          <p:cNvSpPr/>
          <p:nvPr/>
        </p:nvSpPr>
        <p:spPr>
          <a:xfrm>
            <a:off x="3254287" y="4939785"/>
            <a:ext cx="1920240" cy="17373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</a:t>
            </a:r>
          </a:p>
          <a:p>
            <a:endParaRPr lang="en-US" sz="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Properties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stateCurrent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[rSat,0,0,vSat,0,0]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stateHistory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[rSat,0,0,vSat,0,0]</a:t>
            </a: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Properties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 = mass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 = mu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j2 = j2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radius = radius</a:t>
            </a:r>
          </a:p>
          <a:p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Propagation Properties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forceModel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</a:t>
            </a:r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EarthPointMass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MoonPointMass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dynamics = </a:t>
            </a:r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forceModel</a:t>
            </a:r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integratorType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DOPRI5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relTol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1E-12</a:t>
            </a:r>
          </a:p>
          <a:p>
            <a:r>
              <a:rPr lang="en-US" sz="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absTol</a:t>
            </a:r>
            <a:r>
              <a: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1E-12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18209C4-9823-543A-A2FA-DB68F2BC2C50}"/>
              </a:ext>
            </a:extLst>
          </p:cNvPr>
          <p:cNvCxnSpPr>
            <a:cxnSpLocks/>
            <a:stCxn id="6" idx="2"/>
            <a:endCxn id="3" idx="0"/>
          </p:cNvCxnSpPr>
          <p:nvPr/>
        </p:nvCxnSpPr>
        <p:spPr>
          <a:xfrm>
            <a:off x="9071582" y="1614240"/>
            <a:ext cx="1" cy="879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A78EADD-AEB6-B2BD-7C80-FD7B981594C6}"/>
              </a:ext>
            </a:extLst>
          </p:cNvPr>
          <p:cNvSpPr/>
          <p:nvPr/>
        </p:nvSpPr>
        <p:spPr>
          <a:xfrm>
            <a:off x="6077715" y="3158115"/>
            <a:ext cx="431142" cy="4311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05DAD26-A538-9B43-4791-0FDBB537EE6B}"/>
              </a:ext>
            </a:extLst>
          </p:cNvPr>
          <p:cNvCxnSpPr>
            <a:stCxn id="8" idx="3"/>
            <a:endCxn id="16" idx="0"/>
          </p:cNvCxnSpPr>
          <p:nvPr/>
        </p:nvCxnSpPr>
        <p:spPr>
          <a:xfrm>
            <a:off x="5174527" y="1030778"/>
            <a:ext cx="1118759" cy="212733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9F2F0B1E-CA3E-48DC-F47D-EB5B91153E07}"/>
              </a:ext>
            </a:extLst>
          </p:cNvPr>
          <p:cNvCxnSpPr>
            <a:cxnSpLocks/>
            <a:stCxn id="11" idx="3"/>
            <a:endCxn id="16" idx="4"/>
          </p:cNvCxnSpPr>
          <p:nvPr/>
        </p:nvCxnSpPr>
        <p:spPr>
          <a:xfrm flipV="1">
            <a:off x="5174527" y="3589257"/>
            <a:ext cx="1118759" cy="22192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9290E71-05C3-05F3-7576-5C16DADCB22C}"/>
              </a:ext>
            </a:extLst>
          </p:cNvPr>
          <p:cNvCxnSpPr>
            <a:stCxn id="9" idx="3"/>
            <a:endCxn id="16" idx="2"/>
          </p:cNvCxnSpPr>
          <p:nvPr/>
        </p:nvCxnSpPr>
        <p:spPr>
          <a:xfrm>
            <a:off x="5174527" y="3373686"/>
            <a:ext cx="9031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4B9F300-0A08-F5B9-EFCB-C7595696F5BE}"/>
              </a:ext>
            </a:extLst>
          </p:cNvPr>
          <p:cNvCxnSpPr>
            <a:cxnSpLocks/>
            <a:stCxn id="16" idx="6"/>
            <a:endCxn id="3" idx="1"/>
          </p:cNvCxnSpPr>
          <p:nvPr/>
        </p:nvCxnSpPr>
        <p:spPr>
          <a:xfrm>
            <a:off x="6508857" y="3373686"/>
            <a:ext cx="5128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6B0BC65-6560-B59B-120D-2606BB1C8CC7}"/>
              </a:ext>
            </a:extLst>
          </p:cNvPr>
          <p:cNvSpPr/>
          <p:nvPr/>
        </p:nvSpPr>
        <p:spPr>
          <a:xfrm>
            <a:off x="164073" y="1740962"/>
            <a:ext cx="1181252" cy="6218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Integrator Element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RK4</a:t>
            </a:r>
          </a:p>
          <a:p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DOPRI5</a:t>
            </a: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193178C-CC37-0FD2-439F-BB98E7EF40F1}"/>
              </a:ext>
            </a:extLst>
          </p:cNvPr>
          <p:cNvSpPr/>
          <p:nvPr/>
        </p:nvSpPr>
        <p:spPr>
          <a:xfrm>
            <a:off x="1206936" y="2725354"/>
            <a:ext cx="731520" cy="274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RK4</a:t>
            </a: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62188FC-CCB8-FC79-9576-BE02493DA860}"/>
              </a:ext>
            </a:extLst>
          </p:cNvPr>
          <p:cNvSpPr/>
          <p:nvPr/>
        </p:nvSpPr>
        <p:spPr>
          <a:xfrm>
            <a:off x="1186838" y="3399854"/>
            <a:ext cx="731520" cy="274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DOPRI5</a:t>
            </a: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083A02CF-7C4D-A691-5AAB-7EEEC7FD54E3}"/>
              </a:ext>
            </a:extLst>
          </p:cNvPr>
          <p:cNvCxnSpPr>
            <a:cxnSpLocks/>
            <a:stCxn id="27" idx="2"/>
            <a:endCxn id="41" idx="1"/>
          </p:cNvCxnSpPr>
          <p:nvPr/>
        </p:nvCxnSpPr>
        <p:spPr>
          <a:xfrm rot="16200000" flipH="1">
            <a:off x="730988" y="2386566"/>
            <a:ext cx="499658" cy="45223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E8D9B3AC-B26C-4A60-6359-05D8C34DD71F}"/>
              </a:ext>
            </a:extLst>
          </p:cNvPr>
          <p:cNvCxnSpPr>
            <a:cxnSpLocks/>
            <a:stCxn id="27" idx="2"/>
            <a:endCxn id="42" idx="1"/>
          </p:cNvCxnSpPr>
          <p:nvPr/>
        </p:nvCxnSpPr>
        <p:spPr>
          <a:xfrm rot="16200000" flipH="1">
            <a:off x="383689" y="2733865"/>
            <a:ext cx="1174158" cy="43213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14F4983A-08E0-AB64-01BE-3E7DC81FF60C}"/>
              </a:ext>
            </a:extLst>
          </p:cNvPr>
          <p:cNvCxnSpPr>
            <a:cxnSpLocks/>
            <a:stCxn id="41" idx="3"/>
            <a:endCxn id="2" idx="1"/>
          </p:cNvCxnSpPr>
          <p:nvPr/>
        </p:nvCxnSpPr>
        <p:spPr>
          <a:xfrm flipV="1">
            <a:off x="1938456" y="1030778"/>
            <a:ext cx="412643" cy="18317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63D84F03-044C-AEBA-8A4A-5320B055F3E1}"/>
              </a:ext>
            </a:extLst>
          </p:cNvPr>
          <p:cNvCxnSpPr>
            <a:cxnSpLocks/>
            <a:stCxn id="41" idx="3"/>
            <a:endCxn id="4" idx="1"/>
          </p:cNvCxnSpPr>
          <p:nvPr/>
        </p:nvCxnSpPr>
        <p:spPr>
          <a:xfrm>
            <a:off x="1938456" y="2862514"/>
            <a:ext cx="412643" cy="51117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9B865541-EF84-9A8D-F550-604298D53FAD}"/>
              </a:ext>
            </a:extLst>
          </p:cNvPr>
          <p:cNvCxnSpPr>
            <a:cxnSpLocks/>
            <a:stCxn id="42" idx="3"/>
            <a:endCxn id="5" idx="1"/>
          </p:cNvCxnSpPr>
          <p:nvPr/>
        </p:nvCxnSpPr>
        <p:spPr>
          <a:xfrm>
            <a:off x="1918358" y="3537014"/>
            <a:ext cx="432741" cy="22714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636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5179</TotalTime>
  <Words>619</Words>
  <Application>Microsoft Office PowerPoint</Application>
  <PresentationFormat>Widescreen</PresentationFormat>
  <Paragraphs>268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Brennan Yoder</dc:creator>
  <cp:lastModifiedBy>Brennan Yoder</cp:lastModifiedBy>
  <cp:revision>9</cp:revision>
  <dcterms:created xsi:type="dcterms:W3CDTF">2025-12-23T05:28:36Z</dcterms:created>
  <dcterms:modified xsi:type="dcterms:W3CDTF">2025-12-26T19:48:14Z</dcterms:modified>
</cp:coreProperties>
</file>